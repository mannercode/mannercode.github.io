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0a229157ae4272" /><Relationship Type="http://schemas.openxmlformats.org/officeDocument/2006/relationships/extended-properties" Target="/docProps/app.xml" Id="Rcc4e41b9f78e4f12" /><Relationship Type="http://schemas.openxmlformats.org/officeDocument/2006/relationships/officeDocument" Target="/ppt/presentation.xml" Id="Rc701cb52b2a64a76" /></Relationships>
</file>

<file path=ppt/presentation.xml><?xml version="1.0" encoding="utf-8"?>
<p:presentation xmlns:p="http://schemas.openxmlformats.org/presentationml/2006/main">
  <p:sldMasterIdLst>
    <p:sldMasterId xmlns:r="http://schemas.openxmlformats.org/officeDocument/2006/relationships" id="2147483648" r:id="Rb6601a6861ab4104"/>
  </p:sldMasterIdLst>
  <p:notesMasterIdLst>
    <p:notesMasterId xmlns:r="http://schemas.openxmlformats.org/officeDocument/2006/relationships" r:id="R066fc37f21e24af8"/>
  </p:notesMasterIdLst>
  <p:sldIdLst>
    <p:sldId xmlns:r="http://schemas.openxmlformats.org/officeDocument/2006/relationships" id="256" r:id="R968d6d38ca904ba7"/>
    <p:sldId xmlns:r="http://schemas.openxmlformats.org/officeDocument/2006/relationships" id="257" r:id="R09324c53ebe149ce"/>
    <p:sldId xmlns:r="http://schemas.openxmlformats.org/officeDocument/2006/relationships" id="258" r:id="R94749b2fc54f4313"/>
    <p:sldId xmlns:r="http://schemas.openxmlformats.org/officeDocument/2006/relationships" id="259" r:id="Rbb4eb52f9d57434c"/>
    <p:sldId xmlns:r="http://schemas.openxmlformats.org/officeDocument/2006/relationships" id="260" r:id="Rfb74c60d4af54f87"/>
    <p:sldId xmlns:r="http://schemas.openxmlformats.org/officeDocument/2006/relationships" id="261" r:id="R8445364213e54b8e"/>
    <p:sldId xmlns:r="http://schemas.openxmlformats.org/officeDocument/2006/relationships" id="262" r:id="Rd1d5e00af6954bbe"/>
    <p:sldId xmlns:r="http://schemas.openxmlformats.org/officeDocument/2006/relationships" id="263" r:id="R58effa1e87d64eaf"/>
    <p:sldId xmlns:r="http://schemas.openxmlformats.org/officeDocument/2006/relationships" id="264" r:id="R4154fe1b430a4c2a"/>
    <p:sldId xmlns:r="http://schemas.openxmlformats.org/officeDocument/2006/relationships" id="265" r:id="R9923ef6b89a74abb"/>
    <p:sldId xmlns:r="http://schemas.openxmlformats.org/officeDocument/2006/relationships" id="266" r:id="Rfd28fda110944d1b"/>
    <p:sldId xmlns:r="http://schemas.openxmlformats.org/officeDocument/2006/relationships" id="267" r:id="Rae9a44c160604068"/>
    <p:sldId xmlns:r="http://schemas.openxmlformats.org/officeDocument/2006/relationships" id="268" r:id="R11a9ecd03b694baa"/>
    <p:sldId xmlns:r="http://schemas.openxmlformats.org/officeDocument/2006/relationships" id="269" r:id="R5720595ade544e51"/>
    <p:sldId xmlns:r="http://schemas.openxmlformats.org/officeDocument/2006/relationships" id="270" r:id="R0821a99052914cd3"/>
    <p:sldId xmlns:r="http://schemas.openxmlformats.org/officeDocument/2006/relationships" id="271" r:id="Rbbe3b9b822f64fea"/>
    <p:sldId xmlns:r="http://schemas.openxmlformats.org/officeDocument/2006/relationships" id="272" r:id="R9dc1cef96d4e4461"/>
    <p:sldId xmlns:r="http://schemas.openxmlformats.org/officeDocument/2006/relationships" id="273" r:id="R6bdb39cc024c4f0f"/>
    <p:sldId xmlns:r="http://schemas.openxmlformats.org/officeDocument/2006/relationships" id="274" r:id="R44fb6c029f7a4b2a"/>
    <p:sldId xmlns:r="http://schemas.openxmlformats.org/officeDocument/2006/relationships" id="275" r:id="R6248e9e1ac9f4395"/>
    <p:sldId xmlns:r="http://schemas.openxmlformats.org/officeDocument/2006/relationships" id="276" r:id="R1c6da04aa23440e5"/>
    <p:sldId xmlns:r="http://schemas.openxmlformats.org/officeDocument/2006/relationships" id="277" r:id="Rc14e097fffdc46a3"/>
    <p:sldId xmlns:r="http://schemas.openxmlformats.org/officeDocument/2006/relationships" id="278" r:id="R2994146136dd47cb"/>
    <p:sldId xmlns:r="http://schemas.openxmlformats.org/officeDocument/2006/relationships" id="279" r:id="R7672b980152f4933"/>
    <p:sldId xmlns:r="http://schemas.openxmlformats.org/officeDocument/2006/relationships" id="280" r:id="R7519d31dfa734b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a8e8e86a1d44ac" /><Relationship Type="http://schemas.openxmlformats.org/officeDocument/2006/relationships/slideMaster" Target="/ppt/slideMasters/slideMaster1.xml" Id="Rb6601a6861ab4104" /><Relationship Type="http://schemas.openxmlformats.org/officeDocument/2006/relationships/notesMaster" Target="/ppt/notesMasters/notesMaster1.xml" Id="R066fc37f21e24af8" /><Relationship Type="http://schemas.openxmlformats.org/officeDocument/2006/relationships/presProps" Target="/ppt/presProps.xml" Id="Rbad538ce4225469c" /><Relationship Type="http://schemas.openxmlformats.org/officeDocument/2006/relationships/tableStyles" Target="/ppt/tableStyles.xml" Id="R21f76b10b3e347d0" /><Relationship Type="http://schemas.openxmlformats.org/officeDocument/2006/relationships/slide" Target="/ppt/slides/slide1.xml" Id="R968d6d38ca904ba7" /><Relationship Type="http://schemas.openxmlformats.org/officeDocument/2006/relationships/slide" Target="/ppt/slides/slide2.xml" Id="R09324c53ebe149ce" /><Relationship Type="http://schemas.openxmlformats.org/officeDocument/2006/relationships/slide" Target="/ppt/slides/slide3.xml" Id="R94749b2fc54f4313" /><Relationship Type="http://schemas.openxmlformats.org/officeDocument/2006/relationships/slide" Target="/ppt/slides/slide4.xml" Id="Rbb4eb52f9d57434c" /><Relationship Type="http://schemas.openxmlformats.org/officeDocument/2006/relationships/slide" Target="/ppt/slides/slide5.xml" Id="Rfb74c60d4af54f87" /><Relationship Type="http://schemas.openxmlformats.org/officeDocument/2006/relationships/slide" Target="/ppt/slides/slide6.xml" Id="R8445364213e54b8e" /><Relationship Type="http://schemas.openxmlformats.org/officeDocument/2006/relationships/slide" Target="/ppt/slides/slide7.xml" Id="Rd1d5e00af6954bbe" /><Relationship Type="http://schemas.openxmlformats.org/officeDocument/2006/relationships/slide" Target="/ppt/slides/slide8.xml" Id="R58effa1e87d64eaf" /><Relationship Type="http://schemas.openxmlformats.org/officeDocument/2006/relationships/slide" Target="/ppt/slides/slide9.xml" Id="R4154fe1b430a4c2a" /><Relationship Type="http://schemas.openxmlformats.org/officeDocument/2006/relationships/slide" Target="/ppt/slides/slide10.xml" Id="R9923ef6b89a74abb" /><Relationship Type="http://schemas.openxmlformats.org/officeDocument/2006/relationships/slide" Target="/ppt/slides/slide11.xml" Id="Rfd28fda110944d1b" /><Relationship Type="http://schemas.openxmlformats.org/officeDocument/2006/relationships/slide" Target="/ppt/slides/slide12.xml" Id="Rae9a44c160604068" /><Relationship Type="http://schemas.openxmlformats.org/officeDocument/2006/relationships/slide" Target="/ppt/slides/slide13.xml" Id="R11a9ecd03b694baa" /><Relationship Type="http://schemas.openxmlformats.org/officeDocument/2006/relationships/slide" Target="/ppt/slides/slide14.xml" Id="R5720595ade544e51" /><Relationship Type="http://schemas.openxmlformats.org/officeDocument/2006/relationships/slide" Target="/ppt/slides/slide15.xml" Id="R0821a99052914cd3" /><Relationship Type="http://schemas.openxmlformats.org/officeDocument/2006/relationships/slide" Target="/ppt/slides/slide16.xml" Id="Rbbe3b9b822f64fea" /><Relationship Type="http://schemas.openxmlformats.org/officeDocument/2006/relationships/slide" Target="/ppt/slides/slide17.xml" Id="R9dc1cef96d4e4461" /><Relationship Type="http://schemas.openxmlformats.org/officeDocument/2006/relationships/slide" Target="/ppt/slides/slide18.xml" Id="R6bdb39cc024c4f0f" /><Relationship Type="http://schemas.openxmlformats.org/officeDocument/2006/relationships/slide" Target="/ppt/slides/slide19.xml" Id="R44fb6c029f7a4b2a" /><Relationship Type="http://schemas.openxmlformats.org/officeDocument/2006/relationships/slide" Target="/ppt/slides/slide20.xml" Id="R6248e9e1ac9f4395" /><Relationship Type="http://schemas.openxmlformats.org/officeDocument/2006/relationships/slide" Target="/ppt/slides/slide21.xml" Id="R1c6da04aa23440e5" /><Relationship Type="http://schemas.openxmlformats.org/officeDocument/2006/relationships/slide" Target="/ppt/slides/slide22.xml" Id="Rc14e097fffdc46a3" /><Relationship Type="http://schemas.openxmlformats.org/officeDocument/2006/relationships/slide" Target="/ppt/slides/slide23.xml" Id="R2994146136dd47cb" /><Relationship Type="http://schemas.openxmlformats.org/officeDocument/2006/relationships/slide" Target="/ppt/slides/slide24.xml" Id="R7672b980152f4933" /><Relationship Type="http://schemas.openxmlformats.org/officeDocument/2006/relationships/slide" Target="/ppt/slides/slide25.xml" Id="R7519d31dfa734b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56e8ebc2d84b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777534a0ea4ec3" /><Relationship Type="http://schemas.openxmlformats.org/officeDocument/2006/relationships/notesMaster" Target="/ppt/notesMasters/notesMaster1.xml" Id="Raca0b6c6fd5441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ce851b8e32485f" /><Relationship Type="http://schemas.openxmlformats.org/officeDocument/2006/relationships/notesMaster" Target="/ppt/notesMasters/notesMaster1.xml" Id="Rfd41a21400aa4c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a70c9aefe24828" /><Relationship Type="http://schemas.openxmlformats.org/officeDocument/2006/relationships/notesMaster" Target="/ppt/notesMasters/notesMaster1.xml" Id="Rfcf60c840e3d40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c685ae728c4e04" /><Relationship Type="http://schemas.openxmlformats.org/officeDocument/2006/relationships/notesMaster" Target="/ppt/notesMasters/notesMaster1.xml" Id="R2fb28266edda46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d8a14c1e754f1b" /><Relationship Type="http://schemas.openxmlformats.org/officeDocument/2006/relationships/notesMaster" Target="/ppt/notesMasters/notesMaster1.xml" Id="R1f57ec2459514e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f8f24150fe4b4b" /><Relationship Type="http://schemas.openxmlformats.org/officeDocument/2006/relationships/notesMaster" Target="/ppt/notesMasters/notesMaster1.xml" Id="Rcc7f836c7a004d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485617c5014829" /><Relationship Type="http://schemas.openxmlformats.org/officeDocument/2006/relationships/notesMaster" Target="/ppt/notesMasters/notesMaster1.xml" Id="Rf1ae819c3db243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f27a9f3ef04f90" /><Relationship Type="http://schemas.openxmlformats.org/officeDocument/2006/relationships/notesMaster" Target="/ppt/notesMasters/notesMaster1.xml" Id="Ref8fe97372a048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1c37a6730e4799" /><Relationship Type="http://schemas.openxmlformats.org/officeDocument/2006/relationships/notesMaster" Target="/ppt/notesMasters/notesMaster1.xml" Id="Rd6ab78218b064b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255fbd9029434d" /><Relationship Type="http://schemas.openxmlformats.org/officeDocument/2006/relationships/notesMaster" Target="/ppt/notesMasters/notesMaster1.xml" Id="R5dbb5b2720d343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f5c9ef4db6481d" /><Relationship Type="http://schemas.openxmlformats.org/officeDocument/2006/relationships/notesMaster" Target="/ppt/notesMasters/notesMaster1.xml" Id="Reb33427f945c45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d242efddae4d58" /><Relationship Type="http://schemas.openxmlformats.org/officeDocument/2006/relationships/notesMaster" Target="/ppt/notesMasters/notesMaster1.xml" Id="Re442b8c4662c49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66deea40751414b" /><Relationship Type="http://schemas.openxmlformats.org/officeDocument/2006/relationships/notesMaster" Target="/ppt/notesMasters/notesMaster1.xml" Id="R6ea33dd269594d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8915cf1def94f5a" /><Relationship Type="http://schemas.openxmlformats.org/officeDocument/2006/relationships/notesMaster" Target="/ppt/notesMasters/notesMaster1.xml" Id="R6ff5f7b332f94e6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a23d4395af94b9a" /><Relationship Type="http://schemas.openxmlformats.org/officeDocument/2006/relationships/notesMaster" Target="/ppt/notesMasters/notesMaster1.xml" Id="R50462700535d4a2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6538453a9ce4e0e" /><Relationship Type="http://schemas.openxmlformats.org/officeDocument/2006/relationships/notesMaster" Target="/ppt/notesMasters/notesMaster1.xml" Id="R343f3b6abb644c0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33647595c2a4fea" /><Relationship Type="http://schemas.openxmlformats.org/officeDocument/2006/relationships/notesMaster" Target="/ppt/notesMasters/notesMaster1.xml" Id="Rf378b56433a24fc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6c4a8521b4741d1" /><Relationship Type="http://schemas.openxmlformats.org/officeDocument/2006/relationships/notesMaster" Target="/ppt/notesMasters/notesMaster1.xml" Id="Rbb121cf7bec44b3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509ba5326c14361" /><Relationship Type="http://schemas.openxmlformats.org/officeDocument/2006/relationships/notesMaster" Target="/ppt/notesMasters/notesMaster1.xml" Id="Rcfc205a33531414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d5059ddb4234cf9" /><Relationship Type="http://schemas.openxmlformats.org/officeDocument/2006/relationships/notesMaster" Target="/ppt/notesMasters/notesMaster1.xml" Id="R8540f3c950e240f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9840839f5874ca6" /><Relationship Type="http://schemas.openxmlformats.org/officeDocument/2006/relationships/notesMaster" Target="/ppt/notesMasters/notesMaster1.xml" Id="R2e64d5488b5d4c5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53b2dd6a6474170" /><Relationship Type="http://schemas.openxmlformats.org/officeDocument/2006/relationships/notesMaster" Target="/ppt/notesMasters/notesMaster1.xml" Id="R7d9838b122fd440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936d10a7c434f79" /><Relationship Type="http://schemas.openxmlformats.org/officeDocument/2006/relationships/notesMaster" Target="/ppt/notesMasters/notesMaster1.xml" Id="R134f6df5e8c8433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0a2e3db687c4aba" /><Relationship Type="http://schemas.openxmlformats.org/officeDocument/2006/relationships/notesMaster" Target="/ppt/notesMasters/notesMaster1.xml" Id="R5597532fed584ae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5316dd1a91f4b26" /><Relationship Type="http://schemas.openxmlformats.org/officeDocument/2006/relationships/notesMaster" Target="/ppt/notesMasters/notesMaster1.xml" Id="R39192da6df3e4f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00:00–00:30 (30초)</a:t>
            </a:r>
          </a:p>
          <a:p xmlns:a="http://schemas.openxmlformats.org/drawingml/2006/main">
            <a:r>
              <a:t/>
            </a:r>
          </a:p>
          <a:p xmlns:a="http://schemas.openxmlformats.org/drawingml/2006/main">
            <a:r>
              <a:t>오늘은 전시·행사용 티켓 서비스를 만들면서 겪은 8개월을 이야기하겠습니다. 기존 시스템을 수습했고, AI와 혼자 여러 앱을 개발했고, 나중에는 비개발자인 대표가 개발을 주도했습니다. 그 과정에서 개발자와 대표의 역할이 어떻게 달라졌는지 함께 돌아보겠습니다.</a:t>
            </a:r>
          </a:p>
          <a:p xmlns:a="http://schemas.openxmlformats.org/drawingml/2006/main">
            <a:r>
              <a:t/>
            </a:r>
          </a:p>
          <a:p xmlns:a="http://schemas.openxmlformats.org/drawingml/2006/main">
            <a:r>
              <a:t>출처: AI 코딩 1편 최종 원고, 들어가며</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00:30–01:30 (60초)</a:t>
            </a:r>
          </a:p>
          <a:p xmlns:a="http://schemas.openxmlformats.org/drawingml/2006/main">
            <a:r>
              <a:t/>
            </a:r>
          </a:p>
          <a:p xmlns:a="http://schemas.openxmlformats.org/drawingml/2006/main">
            <a:r>
              <a:t>최근에 개발이 다 됐다는 말을 듣거나 직접 하신 적이 있으실 겁니다. 그때 무엇을 확인하셨습니까? AI의 완료 보고를 읽었는지, 화면을 실행했는지, 실제 고객의 일을 끝까지 해 봤는지 잠깐 생각해 보시면 좋겠습니다. 이 프로젝트에서는 처음 합류했을 때도, 대표가 만든 시스템을 넘겨받을 때도 비슷한 말을 들었습니다. 하지만 실제로 실행해 보면 기본 기능부터 문제가 나왔습니다. 오늘 이야기를 관통하는 질문입니다.</a:t>
            </a:r>
          </a:p>
          <a:p xmlns:a="http://schemas.openxmlformats.org/drawingml/2006/main">
            <a:r>
              <a:t/>
            </a:r>
          </a:p>
          <a:p xmlns:a="http://schemas.openxmlformats.org/drawingml/2006/main">
            <a:r>
              <a:t>출처: AI 코딩 1편 최종 원고, 들어가며</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01:30–02:50 (80초)</a:t>
            </a:r>
          </a:p>
          <a:p xmlns:a="http://schemas.openxmlformats.org/drawingml/2006/main">
            <a:r>
              <a:t/>
            </a:r>
          </a:p>
          <a:p xmlns:a="http://schemas.openxmlformats.org/drawingml/2006/main">
            <a:r>
              <a:t>세 단계로 보시면 됩니다. 처음에는 기존 개발팀과 납품을 준비했습니다. 이후 팀원들의 일을 넘겨받아 혼자 AI에게 여러 프로젝트를 맡겼습니다. 마지막에는 대표가 AI로 직접 만든 시스템을 이어받아 개발했습니다. 여기서 AI 코딩은 사람이 요구사항을 설명하고 AI에게 코드 작성과 수정을 맡기는 방식입니다. 직접 코딩은 개발자가 코드를 직접 쓰고 고치는 방식입니다. 당시 사용한 모델은 Opus 4.5부터 5.0까지였습니다. 지금의 AI 성능을 기준으로 당시 판단을 읽으면 의아한 부분이 있을 수 있습니다.</a:t>
            </a:r>
          </a:p>
          <a:p xmlns:a="http://schemas.openxmlformats.org/drawingml/2006/main">
            <a:r>
              <a:t/>
            </a:r>
          </a:p>
          <a:p xmlns:a="http://schemas.openxmlformats.org/drawingml/2006/main">
            <a:r>
              <a:t>출처: AI 코딩 1편 최종 원고, 들어가며</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02:50–04:20 (90초)</a:t>
            </a:r>
          </a:p>
          <a:p xmlns:a="http://schemas.openxmlformats.org/drawingml/2006/main">
            <a:r>
              <a:t/>
            </a:r>
          </a:p>
          <a:p xmlns:a="http://schemas.openxmlformats.org/drawingml/2006/main">
            <a:r>
              <a:t>전시와 행사에 쓰는 티켓 서비스였습니다. 대표는 외주와 프리랜서를 거쳐 개발팀까지 꾸렸지만, 8년 동안 비용을 쓰고도 서비스를 내놓지 못했다고 했습니다. 미술관 납품까지 남은 시간은 4주였고, 다시 일정을 못 맞추면 중요한 계약을 잃을 상황이었습니다. 팀장 한 명과 팀원 두 명이 앱과 서버 여덟 개를 개발했고, 팀장은 퇴사를 앞두고 있었습니다. 첫날 프로젝트 소개를 부탁하자 팀장은 개발자가 하는 일이 아니라며 거절했습니다. 얼마 뒤 대표는 그 팀장의 말을 듣고 제게 Java를 할 수 있느냐고 물었습니다. 누구를 믿을지 판단할 기준도 없어 보였습니다. 프로젝트를 수습하려면 신뢰 관계부터 쌓아야 하는 상황이었습니다.</a:t>
            </a:r>
          </a:p>
          <a:p xmlns:a="http://schemas.openxmlformats.org/drawingml/2006/main">
            <a:r>
              <a:t/>
            </a:r>
          </a:p>
          <a:p xmlns:a="http://schemas.openxmlformats.org/drawingml/2006/main">
            <a:r>
              <a:t>출처: AI 코딩 1편 최종 원고, 1. 개발팀 합류</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04:20–05:20 (60초)</a:t>
            </a:r>
          </a:p>
          <a:p xmlns:a="http://schemas.openxmlformats.org/drawingml/2006/main">
            <a:r>
              <a:t/>
            </a:r>
          </a:p>
          <a:p xmlns:a="http://schemas.openxmlformats.org/drawingml/2006/main">
            <a:r>
              <a:t>대표는 거의 다 됐다고 했습니다. 그런데 진행 상황을 파악하려고 실행하자 인증 같은 기본 기능에서도 오류가 났습니다. 개발을 하기는 했지만 제대로 하지는 않은 상태였습니다. 완공을 앞둔 집에서 물이 새는 것 같았습니다. 이미 만든 것을 모두 버릴 수도, 남은 기간에 구조의 모든 문제를 고칠 수도 없었습니다. 무엇이 실제로 동작하는지 확인하고 납품에 꼭 필요한 흐름부터 연결해야 했습니다. 화면의 개수와 운영 가능한 상태를 구분할 필요가 있었습니다.</a:t>
            </a:r>
          </a:p>
          <a:p xmlns:a="http://schemas.openxmlformats.org/drawingml/2006/main">
            <a:r>
              <a:t/>
            </a:r>
          </a:p>
          <a:p xmlns:a="http://schemas.openxmlformats.org/drawingml/2006/main">
            <a:r>
              <a:t>출처: AI 코딩 1편 최종 원고, 1.2</a:t>
            </a:r>
          </a:p>
          <a:p xmlns:a="http://schemas.openxmlformats.org/drawingml/2006/main">
            <a:r>
              <a:t>https://mannercode.com/2026/09/20/ai-coding-part1.html</a:t>
            </a:r>
          </a:p>
          <a:p xmlns:a="http://schemas.openxmlformats.org/drawingml/2006/main">
            <a:r>
              <a:t>이미지·외부 자료 출처: 저자 보유 AI 생성 설명용 삽화. 실제 현장 사진이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05:20–06:35 (75초)</a:t>
            </a:r>
          </a:p>
          <a:p xmlns:a="http://schemas.openxmlformats.org/drawingml/2006/main">
            <a:r>
              <a:t/>
            </a:r>
          </a:p>
          <a:p xmlns:a="http://schemas.openxmlformats.org/drawingml/2006/main">
            <a:r>
              <a:t>합류한 날 밤부터 AI에게 기존 시스템을 조사하게 했습니다. 화면과 서버가 데이터를 주고받는 요청, 즉 API를 목록으로 만들고, 관련 코드와 데이터베이스를 따라가며 역할을 정리했습니다. 전반적인 기능을 파악하는 데 하루가 걸렸습니다. 파일을 하나씩 열어 봤다면 제 경험상 일주일가량은 걸렸을 것 같습니다. 다만 분석 결과를 그대로 믿을 수는 없었습니다. 이름만 보고 역할을 잘못 해석하거나, 실제로는 개발이 중단된 기능을 구현된 것으로 정리하기도 했습니다. 빠르게 전체를 파악한 뒤 실제 동작을 다시 확인하는 데 활용했습니다. 그다음에는 당장 납품에 필요한 요구사항을 줄여 나갔습니다.</a:t>
            </a:r>
          </a:p>
          <a:p xmlns:a="http://schemas.openxmlformats.org/drawingml/2006/main">
            <a:r>
              <a:t/>
            </a:r>
          </a:p>
          <a:p xmlns:a="http://schemas.openxmlformats.org/drawingml/2006/main">
            <a:r>
              <a:t>출처: AI 코딩 1편 최종 원고, 2.1</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06:35–07:50 (75초)</a:t>
            </a:r>
          </a:p>
          <a:p xmlns:a="http://schemas.openxmlformats.org/drawingml/2006/main">
            <a:r>
              <a:t/>
            </a:r>
          </a:p>
          <a:p xmlns:a="http://schemas.openxmlformats.org/drawingml/2006/main">
            <a:r>
              <a:t>먼저 제가 백오피스 화면을 AI로 만들었습니다. 필요한 메뉴와 API의 요청·응답 문서를 주자 기본 구조와 주요 화면이 빠르게 나왔습니다. 예전에 직접 만들 때처럼 유료 템플릿을 구입하고 구조부터 익힐 필요가 없었습니다. 그런데 API를 연결하자 오류가 반복됐습니다. 담당자는 설계를 검토하지도, 테스트하지도 않았다고 했습니다. 단순한 데이터 조회·수정 화면을 별도 담당자끼리 계속 설명하고 기다리는 비용도 컸습니다. 그래서 백엔드 개발자에게 화면까지 함께 맡겼습니다. 모든 개발자가 즉시 모든 분야를 맡을 수 있다는 뜻은 아닙니다. 이 백오피스의 기능과 제가 확인한 AI의 구현 능력을 기준으로 업무 범위를 다시 정한 것입니다.</a:t>
            </a:r>
          </a:p>
          <a:p xmlns:a="http://schemas.openxmlformats.org/drawingml/2006/main">
            <a:r>
              <a:t/>
            </a:r>
          </a:p>
          <a:p xmlns:a="http://schemas.openxmlformats.org/drawingml/2006/main">
            <a:r>
              <a:t>출처: AI 코딩 1편 최종 원고, 2.2–2.3</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07:50–09:20 (90초)</a:t>
            </a:r>
          </a:p>
          <a:p xmlns:a="http://schemas.openxmlformats.org/drawingml/2006/main">
            <a:r>
              <a:t/>
            </a:r>
          </a:p>
          <a:p xmlns:a="http://schemas.openxmlformats.org/drawingml/2006/main">
            <a:r>
              <a:t>기존 서비스를 출시한 뒤에는 사용자 앱을 다시 만들기 시작했습니다. 처음에는 Figma 시안을 그대로 구현하려고 했지만 결과가 맞지 않았습니다. 시안 자체에도 고칠 부분이 있었고, 제가 Figma를 새로 배울 시간도 없었습니다. 한 시간쯤 시도하다가, 굳이 시안을 똑같이 구현할 필요는 없다는 생각이 들었습니다. 필요한 기능을 몇 문장으로 설명했더니 실제로 동작하는 초안이 나왔습니다. 이제 대표와 앱을 보면서 무엇을 고칠지 정하고 바로 AI에게 수정을 맡길 수 있었습니다. 디자인 시안을 전달하고, 빠진 동작을 발견하고, 다시 설명하는 과정이 줄었습니다. 요구사항을 함께 확인하는 대상이 동작하는 앱으로 바뀐 것입니다.</a:t>
            </a:r>
          </a:p>
          <a:p xmlns:a="http://schemas.openxmlformats.org/drawingml/2006/main">
            <a:r>
              <a:t/>
            </a:r>
          </a:p>
          <a:p xmlns:a="http://schemas.openxmlformats.org/drawingml/2006/main">
            <a:r>
              <a:t>출처: AI 코딩 1편 최종 원고, 2.4</a:t>
            </a:r>
          </a:p>
          <a:p xmlns:a="http://schemas.openxmlformats.org/drawingml/2006/main">
            <a:r>
              <a:t>https://mannercode.com/2026/09/20/ai-coding-part1.html</a:t>
            </a:r>
          </a:p>
          <a:p xmlns:a="http://schemas.openxmlformats.org/drawingml/2006/main">
            <a:r>
              <a:t>이미지·외부 자료 출처: 저자가 제공한 사용자 앱 Figma 캔버스 캡처.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09:20–10:20 (60초)</a:t>
            </a:r>
          </a:p>
          <a:p xmlns:a="http://schemas.openxmlformats.org/drawingml/2006/main">
            <a:r>
              <a:t/>
            </a:r>
          </a:p>
          <a:p xmlns:a="http://schemas.openxmlformats.org/drawingml/2006/main">
            <a:r>
              <a:t>새 백엔드도 처음에는 순조로웠습니다. AI가 만든 기능을 제가 직접 검증했고, 편법으로 문제를 덮지 않았는지와 검증 방법도 확인했습니다. 생각보다 잘했습니다. 이 정도면 팀원을 대신할 수 있겠다는 생각이 들었고, 한 번에 맡기는 작업을 점점 크게 잡았습니다. 그러다 큰 작업을 두세 개 연속으로 맡기면서 중간 결과를 확인하지 않게 됐습니다. 이번에도 알아서 잘해 줄 것이라고 기대했습니다. 제 경우는 처음부터 검증을 하지 않은 것이 아니라, 성공한 경험을 근거로 맡기는 범위를 늘리다가 확인 간격까지 벌어진 경우였습니다.</a:t>
            </a:r>
          </a:p>
          <a:p xmlns:a="http://schemas.openxmlformats.org/drawingml/2006/main">
            <a:r>
              <a:t/>
            </a:r>
          </a:p>
          <a:p xmlns:a="http://schemas.openxmlformats.org/drawingml/2006/main">
            <a:r>
              <a:t>출처: AI 코딩 1편 최종 원고, 3</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10:20–11:50 (90초)</a:t>
            </a:r>
          </a:p>
          <a:p xmlns:a="http://schemas.openxmlformats.org/drawingml/2006/main">
            <a:r>
              <a:t/>
            </a:r>
          </a:p>
          <a:p xmlns:a="http://schemas.openxmlformats.org/drawingml/2006/main">
            <a:r>
              <a:t>AI가 카드번호로 결제 기록을 검색하는 화면을 만들었습니다. 그런데 저장된 카드번호는 모두 마스킹돼 있었습니다. 화면은 번듯했지만, 그 데이터로는 요구한 검색이 성립하지 않았습니다. 문제는 카드번호 보호 자체가 아닙니다. 필요한 검색 방식과 저장된 데이터가 연결되지 않았다는 점입니다. 전체 기능을 테스트하라고 해도 AI는 여러 번 정상이라고 보고했습니다. 화면이 있고 코드가 실행된다는 사실만으로, 사용자가 원하는 일이 끝까지 된다고 볼 수는 없었습니다. 일을 크게 맡길수록 이런 연결이 맞는지 확인할 필요가 커졌습니다.</a:t>
            </a:r>
          </a:p>
          <a:p xmlns:a="http://schemas.openxmlformats.org/drawingml/2006/main">
            <a:r>
              <a:t/>
            </a:r>
          </a:p>
          <a:p xmlns:a="http://schemas.openxmlformats.org/drawingml/2006/main">
            <a:r>
              <a:t>출처: AI 코딩 1편 최종 원고, 3</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11:50–13:20 (90초)</a:t>
            </a:r>
          </a:p>
          <a:p xmlns:a="http://schemas.openxmlformats.org/drawingml/2006/main">
            <a:r>
              <a:t/>
            </a:r>
          </a:p>
          <a:p xmlns:a="http://schemas.openxmlformats.org/drawingml/2006/main">
            <a:r>
              <a:t>팀에서는 요구사항을 각자 해석해서 만들고, 대표는 원하던 것과 다르다고 하는 일이 반복됐습니다. 작업 보드를 도입했지만 기록하는 방식도 정착하지 않았습니다. 제가 계속 중간에서 설명하고 수정 결과를 확인해야 했습니다. 특히 백엔드 담당자는 한 앱에 에이전트를 서너 개씩 투입하면서 작업 범위를 나누거나 변경을 통합·검토하지 않았습니다. 실제 운영 DB에서 테스트했고 자동 백업도 없었습니다. 앞서 주의를 줬는데도 최소한의 확인을 생략하는 일이 반복됐습니다. 제가 요구한 것은 완벽함이 아니라 맡은 결과를 확인하는 책임감이었습니다. 결국 대표와 협의해 해고를 통보했고, 다른 팀원의 퇴사도 겹치면서 혼자 개발하는 쪽을 선택했습니다.</a:t>
            </a:r>
          </a:p>
          <a:p xmlns:a="http://schemas.openxmlformats.org/drawingml/2006/main">
            <a:r>
              <a:t/>
            </a:r>
          </a:p>
          <a:p xmlns:a="http://schemas.openxmlformats.org/drawingml/2006/main">
            <a:r>
              <a:t>출처: AI 코딩 1편 최종 원고, 4.1–4.3</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13:20–14:50 (90초)</a:t>
            </a:r>
          </a:p>
          <a:p xmlns:a="http://schemas.openxmlformats.org/drawingml/2006/main">
            <a:r>
              <a:t/>
            </a:r>
          </a:p>
          <a:p xmlns:a="http://schemas.openxmlformats.org/drawingml/2006/main">
            <a:r>
              <a:t>4월에는 아홉 개 애플리케이션을 혼자 다뤘습니다. 사람 사이에서 설명과 조율을 반복하는 데 드는 비용보다, 제가 AI에게 직접 맡기고 확인하는 편이 효율적이라고 판단했습니다. 여러 에이전트가 한 앱을 마구 수정하게 하지는 않았습니다. 서로 다른 네 프로젝트에 하나씩 배치하고 결과를 직접 검증했습니다. 한 에이전트의 결과를 확인하면 다른 에이전트가 기다리고 있었습니다. 당시 제 한계는 네 개 정도였고, 병목은 검증이었습니다. 검증을 서둘렀다면 더 많이 시킬 수도 있었겠지만, AI가 구체적으로 어떻게 일하는지를 파악하기는 어려웠을 겁니다. 아홉 개를 동시에 만들었다거나, 누구나 같은 생산성을 낼 수 있다는 수치는 아닙니다.</a:t>
            </a:r>
          </a:p>
          <a:p xmlns:a="http://schemas.openxmlformats.org/drawingml/2006/main">
            <a:r>
              <a:t/>
            </a:r>
          </a:p>
          <a:p xmlns:a="http://schemas.openxmlformats.org/drawingml/2006/main">
            <a:r>
              <a:t>출처: AI 코딩 1편 최종 원고, 4.4</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14:50–16:05 (75초)</a:t>
            </a:r>
          </a:p>
          <a:p xmlns:a="http://schemas.openxmlformats.org/drawingml/2006/main">
            <a:r>
              <a:t/>
            </a:r>
          </a:p>
          <a:p xmlns:a="http://schemas.openxmlformats.org/drawingml/2006/main">
            <a:r>
              <a:t>제가 기존 시스템을 수습하는 동안, 대표도 한 달가량 AI로 개발하고 있었습니다. AI가 추천한 기술로 백오피스와 백엔드를 만들고 배포했습니다. 대표는 다 됐으니 현장 키오스크만 붙이면 된다고 했습니다. 개발 경험이 없는 사람이 그만큼의 화면과 기능을 만든 것은 놀라웠습니다. 하지만 한 달 동안 제게 공유하지 않았고, 함께 실행해 보니 가장 기본적인 이벤트 등록에서도 오류가 나왔습니다. 처음 합류했을 때와 비슷한 상황이었습니다. 개발을 주도하는 사람이 바뀌었어도, 운영 가능한 상태인지는 여전히 확인해야 했습니다.</a:t>
            </a:r>
          </a:p>
          <a:p xmlns:a="http://schemas.openxmlformats.org/drawingml/2006/main">
            <a:r>
              <a:t/>
            </a:r>
          </a:p>
          <a:p xmlns:a="http://schemas.openxmlformats.org/drawingml/2006/main">
            <a:r>
              <a:t>출처: AI 코딩 1편 최종 원고, 5.1</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16:05–17:35 (90초)</a:t>
            </a:r>
          </a:p>
          <a:p xmlns:a="http://schemas.openxmlformats.org/drawingml/2006/main">
            <a:r>
              <a:t/>
            </a:r>
          </a:p>
          <a:p xmlns:a="http://schemas.openxmlformats.org/drawingml/2006/main">
            <a:r>
              <a:t>처음에는 받아들이기 어려웠습니다. 하지만 대표가 왜 그랬는지도 이해할 수 있었습니다. 회사 자금은 줄어들고 있었고, 제가 만들던 새 시스템이 언제 완성될지는 확실하지 않았습니다. 대표에게는 세일즈할 때 당장 보여 줄 것이 필요했습니다. 저는 서비스의 방향을 파악하기 어려워 고민하고 있었는데, 대표가 직접 만든 시스템을 보니 원하는 것을 파악하기 쉬워졌습니다. 도메인을 가장 잘 아는 사람이 동작하는 초안을 직접 만드는 방식은 효율적이었습니다. 결국 대표가 직접 명령이라고 표현한 요구를 받아들였고, 제가 만들던 새 백엔드와 사용자 앱은 폐기했습니다. 이후 개발은 대표가 주도했습니다. 사업상의 이유를 인정하는 것과 운영 완성도를 확인하는 일은 함께 필요했습니다.</a:t>
            </a:r>
          </a:p>
          <a:p xmlns:a="http://schemas.openxmlformats.org/drawingml/2006/main">
            <a:r>
              <a:t/>
            </a:r>
          </a:p>
          <a:p xmlns:a="http://schemas.openxmlformats.org/drawingml/2006/main">
            <a:r>
              <a:t>출처: AI 코딩 1편 최종 원고, 5.3</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17:35–19:05 (90초)</a:t>
            </a:r>
          </a:p>
          <a:p xmlns:a="http://schemas.openxmlformats.org/drawingml/2006/main">
            <a:r>
              <a:t/>
            </a:r>
          </a:p>
          <a:p xmlns:a="http://schemas.openxmlformats.org/drawingml/2006/main">
            <a:r>
              <a:t>대표는 자유로운 배포를 원했고, AI가 추천한 React Native로 키오스크와 사용자 앱을 만들려 했습니다. 그런데 키오스크는 Android만 지원하면 됐고 장치 성능과 프린터·스캐너 연동이 중요했습니다. 사용자 앱에는 두 OS에서의 일관된 동작이 중요했습니다. 기술 이름만 놓고 어느 것이 최고라고 묻는 것과, 이 조건들을 함께 놓고 판단하는 것은 다릅니다. 제 추측으로는 대표가 기능 요구는 전달했지만 이런 기술적 조건은 빠뜨렸을 수 있습니다. 실제 프롬프트를 확인한 사실은 아닙니다. 제 기술적 판단 역시 이 프로젝트와 당시 경험에 근거한 것이었습니다.</a:t>
            </a:r>
          </a:p>
          <a:p xmlns:a="http://schemas.openxmlformats.org/drawingml/2006/main">
            <a:r>
              <a:t/>
            </a:r>
          </a:p>
          <a:p xmlns:a="http://schemas.openxmlformats.org/drawingml/2006/main">
            <a:r>
              <a:t>출처: AI 코딩 1편 최종 원고, 5.2</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19:05–20:05 (60초)</a:t>
            </a:r>
          </a:p>
          <a:p xmlns:a="http://schemas.openxmlformats.org/drawingml/2006/main">
            <a:r>
              <a:t/>
            </a:r>
          </a:p>
          <a:p xmlns:a="http://schemas.openxmlformats.org/drawingml/2006/main">
            <a:r>
              <a:t>원고에서 연결한 삼성전자 사례도 같은 맥락입니다. 2024년 10월 동아일보 딥다이브 인터뷰에서 한 반도체 엔지니어는 기술적 이해가 부족한 경영진이 결정을 내리고, 보고가 올라가는 동안 현장의 위험이 축소되는 구조를 비판했습니다. 한 익명 직원의 경험과 견해라는 점은 구분해야 합니다. 제가 여기서 연결하는 것은 기업의 규모가 아니라 의사결정 방식입니다. 전문가가 쉽게 설명하는 노력도 필요하지만, 설명에 포함된 위험과 검증 결과를 결정권자가 실제 판단에 반영하는지도 중요합니다.</a:t>
            </a:r>
          </a:p>
          <a:p xmlns:a="http://schemas.openxmlformats.org/drawingml/2006/main">
            <a:r>
              <a:t/>
            </a:r>
          </a:p>
          <a:p xmlns:a="http://schemas.openxmlformats.org/drawingml/2006/main">
            <a:r>
              <a:t>출처: AI 코딩 1편 최종 원고, 5.2</a:t>
            </a:r>
          </a:p>
          <a:p xmlns:a="http://schemas.openxmlformats.org/drawingml/2006/main">
            <a:r>
              <a:t>https://mannercode.com/2026/09/20/ai-coding-part1.html</a:t>
            </a:r>
          </a:p>
          <a:p xmlns:a="http://schemas.openxmlformats.org/drawingml/2006/main">
            <a:r>
              <a:t>이미지·외부 자료 출처: https://stibee.com/api/v1.0/emails/share/OfXIP-Gm1JSC7-0jDdf0nbQSQeFwMfU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20:05–21:50 (105초)</a:t>
            </a:r>
          </a:p>
          <a:p xmlns:a="http://schemas.openxmlformats.org/drawingml/2006/main">
            <a:r>
              <a:t/>
            </a:r>
          </a:p>
          <a:p xmlns:a="http://schemas.openxmlformats.org/drawingml/2006/main">
            <a:r>
              <a:t>대표는 운영 중인 미술관 시스템을 자신이 만든 시스템으로 교체하려 했습니다. 데이터를 옮기고 현장 앱을 새로 만들어야 했습니다. 저는 검증까지 고려해 4주가 필요하다고 했고, 대표는 2주를 요구했습니다. 만들 수는 있어도 검증 시간이 부족해 사고가 날 수 있다고 설명했습니다. 대표는 괜찮을 것이라고 했습니다. 데이터를 정제해 옮기고 합계를 대조했으며, 앱을 만든 뒤 함께 확인하고 배포했습니다. 하지만 다음 날부터 필요한 기능이 없고 기존 기능도 빠졌다는 항의가 왔습니다. 반나절 만에 기존 시스템으로 되돌렸습니다. 저는 일정과 검증 부족이 문제였다고 생각했지만 결과에 대한 비난은 제게 돌아왔습니다. 위험을 설명하고 진행에 동의했다는 사실만으로 책임에 대한 이해까지 같아지는 것은 아니었습니다.</a:t>
            </a:r>
          </a:p>
          <a:p xmlns:a="http://schemas.openxmlformats.org/drawingml/2006/main">
            <a:r>
              <a:t/>
            </a:r>
          </a:p>
          <a:p xmlns:a="http://schemas.openxmlformats.org/drawingml/2006/main">
            <a:r>
              <a:t>출처: AI 코딩 1편 최종 원고, 5.4</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21:50–23:30 (100초)</a:t>
            </a:r>
          </a:p>
          <a:p xmlns:a="http://schemas.openxmlformats.org/drawingml/2006/main">
            <a:r>
              <a:t/>
            </a:r>
          </a:p>
          <a:p xmlns:a="http://schemas.openxmlformats.org/drawingml/2006/main">
            <a:r>
              <a:t>당장 쓰지 않을 기능도 운영에 영향을 줍니다. 티켓 메시지를 보낼 때 미리 충전한 금액에서 요금을 차감하는 기능이 있었습니다. 정작 의뢰업체에 메시지 요금을 실제로 청구한 적은 한 번도 없었습니다. 그런데 행사 중 잔액이 바닥나자 키오스크가 멈췄습니다. 원인을 바로 찾지 못해 발권이 한동안 중단됐습니다. 매출에 기여하지 않던 기능이 핵심 업무를 막는 조건이 된 겁니다. 이 사고는 앞서 설명한 미술관 시스템 교체와 별개의 사례입니다. 더 근본적으로, 이 서비스에서는 티켓 구매 과정의 메시지를 별도 과금 대상으로 삼아서는 안 된다고 판단했습니다.</a:t>
            </a:r>
          </a:p>
          <a:p xmlns:a="http://schemas.openxmlformats.org/drawingml/2006/main">
            <a:r>
              <a:t/>
            </a:r>
          </a:p>
          <a:p xmlns:a="http://schemas.openxmlformats.org/drawingml/2006/main">
            <a:r>
              <a:t>출처: AI 코딩 1편 최종 원고, 5.5</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23:30–24:35 (65초)</a:t>
            </a:r>
          </a:p>
          <a:p xmlns:a="http://schemas.openxmlformats.org/drawingml/2006/main">
            <a:r>
              <a:t/>
            </a:r>
          </a:p>
          <a:p xmlns:a="http://schemas.openxmlformats.org/drawingml/2006/main">
            <a:r>
              <a:t>메시지 과금을 넣었다면 잔액이 부족할 때 키오스크 화면에 정확한 원인을 알려 줘야 했습니다. 메시지를 발송하는 다른 화면도 모두 과금 조건에 맞게 고치고 검증해야 했습니다. 무엇에 과금할지에 대한 서비스 정책도 먼저 정해야 했습니다. 기능들은 서로 연결돼 있습니다. 기능 하나를 작성하는 시간만 봐서는 실제 비용을 알기 어렵습니다. 관련 기능을 고치고 검증하고 운영하는 일이 계속 남습니다. 구조를 정리하지 않고 기능만 추가하면, 당장 쓰지 않는 기능이 매출을 만들기도 전에 유지 비용부터 늘릴 수 있습니다.</a:t>
            </a:r>
          </a:p>
          <a:p xmlns:a="http://schemas.openxmlformats.org/drawingml/2006/main">
            <a:r>
              <a:t/>
            </a:r>
          </a:p>
          <a:p xmlns:a="http://schemas.openxmlformats.org/drawingml/2006/main">
            <a:r>
              <a:t>출처: AI 코딩 1편 최종 원고, 5.5</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24:35–26:05 (90초)</a:t>
            </a:r>
          </a:p>
          <a:p xmlns:a="http://schemas.openxmlformats.org/drawingml/2006/main">
            <a:r>
              <a:t/>
            </a:r>
          </a:p>
          <a:p xmlns:a="http://schemas.openxmlformats.org/drawingml/2006/main">
            <a:r>
              <a:t>대표가 기능을 추가할 때마다 저는 그에 맞춰 후속 작업을 해야 했습니다. 할 일이 명확했던 레거시 수습 때와 달리 효율과 의욕이 급격히 떨어졌고, 고액의 연봉을 받으면서도 능력을 발휘하기 어려웠습니다. 저는 옳다고 생각해도 강하게 밀어붙이는 편은 아닙니다. 한 번 양보를 얻어 내면 그 빚이 이후 결정에 족쇄로 남는다고 생각하기 때문입니다. 중요한 사안은 두 번 정도 진지하게 설득하고, 그래도 안 되면 문제가 드러날 때까지 기다리는 편입니다. 당시에도 대표가 직접 문제를 겪기 전에는 어떤 말을 해도 역효과가 날 것 같았습니다. 이 선택을 모두에게 권하는 것이 아니라, 제가 그 상황에서 어떻게 판단하고 행동했는지를 말씀드리는 것입니다.</a:t>
            </a:r>
          </a:p>
          <a:p xmlns:a="http://schemas.openxmlformats.org/drawingml/2006/main">
            <a:r>
              <a:t/>
            </a:r>
          </a:p>
          <a:p xmlns:a="http://schemas.openxmlformats.org/drawingml/2006/main">
            <a:r>
              <a:t>출처: AI 코딩 1편 최종 원고, 5.5</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26:05–27:00 (55초)</a:t>
            </a:r>
          </a:p>
          <a:p xmlns:a="http://schemas.openxmlformats.org/drawingml/2006/main">
            <a:r>
              <a:t/>
            </a:r>
          </a:p>
          <a:p xmlns:a="http://schemas.openxmlformats.org/drawingml/2006/main">
            <a:r>
              <a:t>AI는 제가 혼자 다룰 수 있는 구현 범위를 넓혔고, 대표가 생각하는 서비스를 직접 만들 수 있게 했습니다. 하지만 팀장과 대표 사이에서도, 대표와 저 사이에서도 신뢰를 쌓는 데 실패했습니다. 협력 관계를 만들지 못해 각자의 능력을 충분히 살리지 못했습니다. 개발자는 사업의 요구를 이해해야 하고, 대표는 개발자의 기술적 판단과 검증 결과를 결정에 반영해야 합니다. 협력 관계는 어느 한쪽만의 노력으로 만들 수 없습니다. 이것이 이 8개월을 돌아보며 남은 결론입니다.</a:t>
            </a:r>
          </a:p>
          <a:p xmlns:a="http://schemas.openxmlformats.org/drawingml/2006/main">
            <a:r>
              <a:t/>
            </a:r>
          </a:p>
          <a:p xmlns:a="http://schemas.openxmlformats.org/drawingml/2006/main">
            <a:r>
              <a:t>출처: AI 코딩 1편 최종 원고, 맺으며</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27:00–30:00 (180초)</a:t>
            </a:r>
          </a:p>
          <a:p xmlns:a="http://schemas.openxmlformats.org/drawingml/2006/main">
            <a:r>
              <a:t/>
            </a:r>
          </a:p>
          <a:p xmlns:a="http://schemas.openxmlformats.org/drawingml/2006/main">
            <a:r>
              <a:t>1편의 경험담은 여기서 마치겠습니다. 실제로 어떤 방식으로 일하고 문제를 해결해야 하는지는 2편에서 구체적인 기술 사례와 함께 다루려고 합니다. 오늘은 경험에 관한 질문을 받겠습니다. 비슷한 상황을 겪으신 분의 이야기도 함께 들으면 좋겠습니다. 기술 선택이나 당시 관리하던 애플리케이션의 범위에 관한 질문은 뒤의 참고 슬라이드로 설명할 수 있습니다.</a:t>
            </a:r>
          </a:p>
          <a:p xmlns:a="http://schemas.openxmlformats.org/drawingml/2006/main">
            <a:r>
              <a:t/>
            </a:r>
          </a:p>
          <a:p xmlns:a="http://schemas.openxmlformats.org/drawingml/2006/main">
            <a:r>
              <a:t>출처: AI 코딩 1편 최종 원고, 질의응답</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참고 슬라이드</a:t>
            </a:r>
          </a:p>
          <a:p xmlns:a="http://schemas.openxmlformats.org/drawingml/2006/main">
            <a:r>
              <a:t/>
            </a:r>
          </a:p>
          <a:p xmlns:a="http://schemas.openxmlformats.org/drawingml/2006/main">
            <a:r>
              <a:t>기술의 일반적인 우열을 정리한 표가 아닙니다. 키오스크의 제한된 하드웨어, 사용자 앱의 지원 범위, 당시 제가 겪은 React Native의 OS별 동작 차이 등을 기준으로 내린 판단입니다. 대표는 AI가 추천한 Next.js와 Supabase를 사용했고, 키오스크와 사용자 앱에는 RN을 고려했습니다. Next.js와 MongoDB가 더 단순하고 비용도 낮았을 것이라는 대목은 실제 비용 비교 실험의 결과가 아니라 당시 제 판단입니다. 현재의 특정 서비스 가격이나 라이브러리 성능을 비교하는 근거로 사용하지 않습니다.</a:t>
            </a:r>
          </a:p>
          <a:p xmlns:a="http://schemas.openxmlformats.org/drawingml/2006/main">
            <a:r>
              <a:t/>
            </a:r>
          </a:p>
          <a:p xmlns:a="http://schemas.openxmlformats.org/drawingml/2006/main">
            <a:r>
              <a:t>출처: AI 코딩 1편 최종 원고, 참고자료</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참고 슬라이드</a:t>
            </a:r>
          </a:p>
          <a:p xmlns:a="http://schemas.openxmlformats.org/drawingml/2006/main">
            <a:r>
              <a:t/>
            </a:r>
          </a:p>
          <a:p xmlns:a="http://schemas.openxmlformats.org/drawingml/2006/main">
            <a:r>
              <a:t>합류 당시 팀원이 나눠 맡던 앱·서버 여덟 개와, 이후 단독 개발로 관리하던 애플리케이션 아홉 개는 시점과 범위가 다릅니다. 기존 iOS·Android 사용자 앱은 개발을 중단했고, 새 시스템과 행사 서비스를 함께 다뤘습니다. 행마다 하나의 프로젝트만 있다는 뜻은 아니며, 괄호 속 구분용 프로젝트를 합하면 아홉 개입니다. 실제 병렬 작업은 서로 다른 네 프로젝트에 하나씩 에이전트를 배치하는 방식이었습니다.</a:t>
            </a:r>
          </a:p>
          <a:p xmlns:a="http://schemas.openxmlformats.org/drawingml/2006/main">
            <a:r>
              <a:t/>
            </a:r>
          </a:p>
          <a:p xmlns:a="http://schemas.openxmlformats.org/drawingml/2006/main">
            <a:r>
              <a:t>출처: AI 코딩 1편 최종 원고, 참고자료</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참고 슬라이드</a:t>
            </a:r>
          </a:p>
          <a:p xmlns:a="http://schemas.openxmlformats.org/drawingml/2006/main">
            <a:r>
              <a:t/>
            </a:r>
          </a:p>
          <a:p xmlns:a="http://schemas.openxmlformats.org/drawingml/2006/main">
            <a:r>
              <a:t>주요 내용의 근거는 발표자 본인의 최종 1편 원고입니다. 삼성전자 사례는 동아일보 딥다이브의 2024년 10월 18일 인터뷰입니다. 집 그림은 저자가 보유한 AI 생성 설명용 삽화이며 실제 현장 사진이 아닙니다. Figma 캡처는 저자가 제공한 자료입니다. 발표에 들어간 기간과 수치는 이 프로젝트 경험의 범위에서 읽어야 합니다.</a:t>
            </a:r>
          </a:p>
          <a:p xmlns:a="http://schemas.openxmlformats.org/drawingml/2006/main">
            <a:r>
              <a:t/>
            </a:r>
          </a:p>
          <a:p xmlns:a="http://schemas.openxmlformats.org/drawingml/2006/main">
            <a:r>
              <a:t>출처: AI 코딩 1편 최종 원고, 참고자료</a:t>
            </a:r>
          </a:p>
          <a:p xmlns:a="http://schemas.openxmlformats.org/drawingml/2006/main">
            <a:r>
              <a:t>https://mannercode.com/2026/09/20/ai-coding-part1.html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beedc514c447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209aad8e614c2f" /><Relationship Type="http://schemas.openxmlformats.org/officeDocument/2006/relationships/slideLayout" Target="/ppt/slideLayouts/slideLayout1.xml" Id="R452f3194b0894c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2f3194b0894c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5ab2f73280456e" /><Relationship Type="http://schemas.openxmlformats.org/officeDocument/2006/relationships/notesSlide" Target="/ppt/notesSlides/notesSlide1.xml" Id="Rca69dd35fea043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1e3b7dde25746fb" /><Relationship Type="http://schemas.openxmlformats.org/officeDocument/2006/relationships/notesSlide" Target="/ppt/notesSlides/notesSlide2.xml" Id="R42c2ff92ba754c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3727ce7f944ae4" /><Relationship Type="http://schemas.openxmlformats.org/officeDocument/2006/relationships/notesSlide" Target="/ppt/notesSlides/notesSlide3.xml" Id="R0ac2904a9c6140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64fd0bed3304ccf" /><Relationship Type="http://schemas.openxmlformats.org/officeDocument/2006/relationships/notesSlide" Target="/ppt/notesSlides/notesSlide4.xml" Id="R3f86294891dd44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860c4245804e0e" /><Relationship Type="http://schemas.openxmlformats.org/officeDocument/2006/relationships/image" Target="/ppt/media/image.png" Id="Rdf28893facdd4ca2" /><Relationship Type="http://schemas.openxmlformats.org/officeDocument/2006/relationships/notesSlide" Target="/ppt/notesSlides/notesSlide5.xml" Id="Refd3affd3e1a41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3d58b01a6324498" /><Relationship Type="http://schemas.openxmlformats.org/officeDocument/2006/relationships/notesSlide" Target="/ppt/notesSlides/notesSlide6.xml" Id="R658d9c46b6b541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7ceade138641bf" /><Relationship Type="http://schemas.openxmlformats.org/officeDocument/2006/relationships/notesSlide" Target="/ppt/notesSlides/notesSlide7.xml" Id="R6b38c598cbac40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19892eb63b74a1a" /><Relationship Type="http://schemas.openxmlformats.org/officeDocument/2006/relationships/image" Target="/ppt/media/image2.png" Id="R4133f182b7684fe2" /><Relationship Type="http://schemas.openxmlformats.org/officeDocument/2006/relationships/notesSlide" Target="/ppt/notesSlides/notesSlide8.xml" Id="Raccf79dab4694d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3664dda39f54f38" /><Relationship Type="http://schemas.openxmlformats.org/officeDocument/2006/relationships/notesSlide" Target="/ppt/notesSlides/notesSlide9.xml" Id="R64bd86e63a454d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05ee790591a4971" /><Relationship Type="http://schemas.openxmlformats.org/officeDocument/2006/relationships/notesSlide" Target="/ppt/notesSlides/notesSlide10.xml" Id="Rb7d73bf057fc497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92aeb9cb2624604" /><Relationship Type="http://schemas.openxmlformats.org/officeDocument/2006/relationships/notesSlide" Target="/ppt/notesSlides/notesSlide11.xml" Id="R866f10bc48fc43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f5dd249df124326" /><Relationship Type="http://schemas.openxmlformats.org/officeDocument/2006/relationships/notesSlide" Target="/ppt/notesSlides/notesSlide12.xml" Id="R89177aab154446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923a1f782974c72" /><Relationship Type="http://schemas.openxmlformats.org/officeDocument/2006/relationships/notesSlide" Target="/ppt/notesSlides/notesSlide13.xml" Id="R90d82c7743064a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d9ab4b2639c45ce" /><Relationship Type="http://schemas.openxmlformats.org/officeDocument/2006/relationships/notesSlide" Target="/ppt/notesSlides/notesSlide14.xml" Id="R4e2e6f3649a34e9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6f48438419d443c" /><Relationship Type="http://schemas.openxmlformats.org/officeDocument/2006/relationships/notesSlide" Target="/ppt/notesSlides/notesSlide15.xml" Id="R4c68da0d91634c9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eebe4ebf9854aca" /><Relationship Type="http://schemas.openxmlformats.org/officeDocument/2006/relationships/notesSlide" Target="/ppt/notesSlides/notesSlide16.xml" Id="Rb24c731fe60d4a6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e0a69e8cb744ce9" /><Relationship Type="http://schemas.openxmlformats.org/officeDocument/2006/relationships/notesSlide" Target="/ppt/notesSlides/notesSlide17.xml" Id="R7de5f8d376b44a0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fa1050e99794605" /><Relationship Type="http://schemas.openxmlformats.org/officeDocument/2006/relationships/notesSlide" Target="/ppt/notesSlides/notesSlide18.xml" Id="Rc28a0f2aefea4a2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8dfec001ac04546" /><Relationship Type="http://schemas.openxmlformats.org/officeDocument/2006/relationships/notesSlide" Target="/ppt/notesSlides/notesSlide19.xml" Id="Rc67048d2f15d43e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22164452be04327" /><Relationship Type="http://schemas.openxmlformats.org/officeDocument/2006/relationships/notesSlide" Target="/ppt/notesSlides/notesSlide20.xml" Id="R840dafb6a17a4d0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3f8557215ba44ea" /><Relationship Type="http://schemas.openxmlformats.org/officeDocument/2006/relationships/notesSlide" Target="/ppt/notesSlides/notesSlide21.xml" Id="R8ea6efc2d48b448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9c4bbe64c144e30" /><Relationship Type="http://schemas.openxmlformats.org/officeDocument/2006/relationships/hyperlink" Target="https://mannercode.com/2026/09/20/ai-coding-part1.html" TargetMode="External" Id="Rce8afd46499d45b6" /><Relationship Type="http://schemas.openxmlformats.org/officeDocument/2006/relationships/notesSlide" Target="/ppt/notesSlides/notesSlide22.xml" Id="Rc4527c019c1843f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e8c2d4691814ab0" /><Relationship Type="http://schemas.openxmlformats.org/officeDocument/2006/relationships/notesSlide" Target="/ppt/notesSlides/notesSlide23.xml" Id="R6642145ef0fb433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85ad5c7bd7040b7" /><Relationship Type="http://schemas.openxmlformats.org/officeDocument/2006/relationships/notesSlide" Target="/ppt/notesSlides/notesSlide24.xml" Id="R2b09b6407063489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4e8a25614a24015" /><Relationship Type="http://schemas.openxmlformats.org/officeDocument/2006/relationships/hyperlink" Target="https://mannercode.com/2026/09/20/ai-coding-part1.html" TargetMode="External" Id="R8c7febfb65064f52" /><Relationship Type="http://schemas.openxmlformats.org/officeDocument/2006/relationships/hyperlink" Target="https://stibee.com/api/v1.0/emails/share/OfXIP-Gm1JSC7-0jDdf0nbQSQeFwMfU" TargetMode="External" Id="Raef9ab77d5664a86" /><Relationship Type="http://schemas.openxmlformats.org/officeDocument/2006/relationships/notesSlide" Target="/ppt/notesSlides/notesSlide25.xml" Id="Re3d89a2400144c39" /></Relationships>
</file>

<file path=ppt/slides/slide1.xml><?xml version="1.0" encoding="utf-8"?>
<p:sld xmlns:p="http://schemas.openxmlformats.org/presentationml/2006/main">
  <p:cSld>
    <p:bg>
      <p:bgPr>
        <a:solidFill xmlns:a="http://schemas.openxmlformats.org/drawingml/2006/main">
          <a:srgbClr val="14233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4C4A60A-890F-4ECA-B98E-7D9943649350}"/>
              </a:ext>
            </a:extLst>
          </p:cNvPr>
          <p:cNvSpPr>
            <a:spLocks xmlns:a="http://schemas.openxmlformats.org/drawingml/2006/main" noGrp="1"/>
          </p:cNvSpPr>
          <p:nvPr/>
        </p:nvSpPr>
        <p:spPr>
          <a:xfrm xmlns:a="http://schemas.openxmlformats.org/drawingml/2006/main">
            <a:off x="723900" y="6096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BBC8D0"/>
                </a:solidFill>
                <a:latin typeface="Apple SD Gothic Neo"/>
                <a:ea typeface="Apple SD Gothic Neo"/>
                <a:cs typeface="Apple SD Gothic Neo"/>
              </a:defRPr>
            </a:pPr>
            <a:r>
              <a:rPr sz="2175" b="0">
                <a:solidFill>
                  <a:srgbClr val="BBC8D0"/>
                </a:solidFill>
                <a:latin typeface="Apple SD Gothic Neo"/>
                <a:ea typeface="Apple SD Gothic Neo"/>
                <a:cs typeface="Apple SD Gothic Neo"/>
              </a:rPr>
              <a:t>AI 코딩 이해하기 · 1편</a:t>
            </a:r>
          </a:p>
        </p:txBody>
      </p:sp>
      <p:sp>
        <p:nvSpPr>
          <p:cNvPr id="2" name="">
            <a:extLst xmlns:a="http://schemas.openxmlformats.org/drawingml/2006/main">
              <a:ext uri="{FF2B5EF4-FFF2-40B4-BE49-F238E27FC236}">
                <a16:creationId xmlns:a16="http://schemas.microsoft.com/office/drawing/2014/main" id="{4C58BC72-9921-452E-855B-2A7ECC9AD4B3}"/>
              </a:ext>
            </a:extLst>
          </p:cNvPr>
          <p:cNvSpPr>
            <a:spLocks xmlns:a="http://schemas.openxmlformats.org/drawingml/2006/main" noGrp="1"/>
          </p:cNvSpPr>
          <p:nvPr/>
        </p:nvSpPr>
        <p:spPr>
          <a:xfrm xmlns:a="http://schemas.openxmlformats.org/drawingml/2006/main">
            <a:off x="723900" y="184785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350" b="1">
                <a:solidFill>
                  <a:srgbClr val="FFFFFF"/>
                </a:solidFill>
                <a:latin typeface="Apple SD Gothic Neo"/>
                <a:ea typeface="Apple SD Gothic Neo"/>
                <a:cs typeface="Apple SD Gothic Neo"/>
              </a:defRPr>
            </a:pPr>
            <a:r>
              <a:rPr sz="7350" b="1">
                <a:solidFill>
                  <a:srgbClr val="FFFFFF"/>
                </a:solidFill>
                <a:latin typeface="Apple SD Gothic Neo"/>
                <a:ea typeface="Apple SD Gothic Neo"/>
                <a:cs typeface="Apple SD Gothic Neo"/>
              </a:rPr>
              <a:t>AI가 바꾼</a:t>
            </a:r>
          </a:p>
        </p:txBody>
      </p:sp>
      <p:sp>
        <p:nvSpPr>
          <p:cNvPr id="3" name="">
            <a:extLst xmlns:a="http://schemas.openxmlformats.org/drawingml/2006/main">
              <a:ext uri="{FF2B5EF4-FFF2-40B4-BE49-F238E27FC236}">
                <a16:creationId xmlns:a16="http://schemas.microsoft.com/office/drawing/2014/main" id="{191FF3A1-AEAA-46C5-A00F-1FBBF64C05DD}"/>
              </a:ext>
            </a:extLst>
          </p:cNvPr>
          <p:cNvSpPr>
            <a:spLocks xmlns:a="http://schemas.openxmlformats.org/drawingml/2006/main" noGrp="1"/>
          </p:cNvSpPr>
          <p:nvPr/>
        </p:nvSpPr>
        <p:spPr>
          <a:xfrm xmlns:a="http://schemas.openxmlformats.org/drawingml/2006/main">
            <a:off x="723900" y="293370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350" b="1">
                <a:solidFill>
                  <a:srgbClr val="FFFFFF"/>
                </a:solidFill>
                <a:latin typeface="Apple SD Gothic Neo"/>
                <a:ea typeface="Apple SD Gothic Neo"/>
                <a:cs typeface="Apple SD Gothic Neo"/>
              </a:defRPr>
            </a:pPr>
            <a:r>
              <a:rPr sz="7350" b="1">
                <a:solidFill>
                  <a:srgbClr val="FFFFFF"/>
                </a:solidFill>
                <a:latin typeface="Apple SD Gothic Neo"/>
                <a:ea typeface="Apple SD Gothic Neo"/>
                <a:cs typeface="Apple SD Gothic Neo"/>
              </a:rPr>
              <a:t>개발 환경</a:t>
            </a:r>
          </a:p>
        </p:txBody>
      </p:sp>
      <p:sp>
        <p:nvSpPr>
          <p:cNvPr id="4" name="">
            <a:extLst xmlns:a="http://schemas.openxmlformats.org/drawingml/2006/main">
              <a:ext uri="{FF2B5EF4-FFF2-40B4-BE49-F238E27FC236}">
                <a16:creationId xmlns:a16="http://schemas.microsoft.com/office/drawing/2014/main" id="{DC5D20C4-60CA-4600-B784-DDAC609B6B16}"/>
              </a:ext>
            </a:extLst>
          </p:cNvPr>
          <p:cNvSpPr>
            <a:spLocks xmlns:a="http://schemas.openxmlformats.org/drawingml/2006/main" noGrp="1"/>
          </p:cNvSpPr>
          <p:nvPr/>
        </p:nvSpPr>
        <p:spPr>
          <a:xfrm xmlns:a="http://schemas.openxmlformats.org/drawingml/2006/main">
            <a:off x="762000" y="4667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BBC8D0"/>
                </a:solidFill>
                <a:latin typeface="Apple SD Gothic Neo"/>
                <a:ea typeface="Apple SD Gothic Neo"/>
                <a:cs typeface="Apple SD Gothic Neo"/>
              </a:defRPr>
            </a:pPr>
            <a:r>
              <a:rPr sz="2850" b="0">
                <a:solidFill>
                  <a:srgbClr val="BBC8D0"/>
                </a:solidFill>
                <a:latin typeface="Apple SD Gothic Neo"/>
                <a:ea typeface="Apple SD Gothic Neo"/>
                <a:cs typeface="Apple SD Gothic Neo"/>
              </a:rPr>
              <a:t>8개월의 티켓 서비스 개발 경험</a:t>
            </a:r>
          </a:p>
        </p:txBody>
      </p:sp>
      <p:sp>
        <p:nvSpPr>
          <p:cNvPr id="5" name="">
            <a:extLst xmlns:a="http://schemas.openxmlformats.org/drawingml/2006/main">
              <a:ext uri="{FF2B5EF4-FFF2-40B4-BE49-F238E27FC236}">
                <a16:creationId xmlns:a16="http://schemas.microsoft.com/office/drawing/2014/main" id="{63B345D0-DCBB-4728-8B88-C0954A8F454F}"/>
              </a:ext>
            </a:extLst>
          </p:cNvPr>
          <p:cNvSpPr>
            <a:spLocks xmlns:a="http://schemas.openxmlformats.org/drawingml/2006/main" noGrp="1"/>
          </p:cNvSpPr>
          <p:nvPr/>
        </p:nvSpPr>
        <p:spPr>
          <a:xfrm xmlns:a="http://schemas.openxmlformats.org/drawingml/2006/main">
            <a:off x="762000" y="5991225"/>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BC8D0"/>
                </a:solidFill>
                <a:latin typeface="Apple SD Gothic Neo"/>
                <a:ea typeface="Apple SD Gothic Neo"/>
                <a:cs typeface="Apple SD Gothic Neo"/>
              </a:defRPr>
            </a:pPr>
            <a:r>
              <a:rPr sz="2025" b="0">
                <a:solidFill>
                  <a:srgbClr val="BBC8D0"/>
                </a:solidFill>
                <a:latin typeface="Apple SD Gothic Neo"/>
                <a:ea typeface="Apple SD Gothic Neo"/>
                <a:cs typeface="Apple SD Gothic Neo"/>
              </a:rPr>
              <a:t>Manner Code</a:t>
            </a:r>
          </a:p>
        </p:txBody>
      </p:sp>
    </p:spTree>
    <p:extLst>
      <p:ext uri="{BB962C8B-B14F-4D97-AF65-F5344CB8AC3E}">
        <p14:creationId xmlns:p14="http://schemas.microsoft.com/office/powerpoint/2010/main" val="405457004"/>
      </p:ext>
    </p:extLst>
  </p:cSld>
</p:sld>
</file>

<file path=ppt/slides/slide2.xml><?xml version="1.0" encoding="utf-8"?>
<p:sld xmlns:p="http://schemas.openxmlformats.org/presentationml/2006/main">
  <p:cSld>
    <p:bg>
      <p:bgPr>
        <a:solidFill xmlns:a="http://schemas.openxmlformats.org/drawingml/2006/main">
          <a:srgbClr val="14233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2CE3842-3DEF-4456-88CC-D2718977E525}"/>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BC8D0"/>
                </a:solidFill>
                <a:latin typeface="Apple SD Gothic Neo"/>
                <a:ea typeface="Apple SD Gothic Neo"/>
                <a:cs typeface="Apple SD Gothic Neo"/>
              </a:defRPr>
            </a:pPr>
            <a:r>
              <a:rPr sz="1425" b="0">
                <a:solidFill>
                  <a:srgbClr val="BBC8D0"/>
                </a:solidFill>
                <a:latin typeface="Apple SD Gothic Neo"/>
                <a:ea typeface="Apple SD Gothic Neo"/>
                <a:cs typeface="Apple SD Gothic Neo"/>
              </a:rPr>
              <a:t>02</a:t>
            </a:r>
          </a:p>
        </p:txBody>
      </p:sp>
      <p:sp>
        <p:nvSpPr>
          <p:cNvPr id="2" name="">
            <a:extLst xmlns:a="http://schemas.openxmlformats.org/drawingml/2006/main">
              <a:ext uri="{FF2B5EF4-FFF2-40B4-BE49-F238E27FC236}">
                <a16:creationId xmlns:a16="http://schemas.microsoft.com/office/drawing/2014/main" id="{2DFF3C2D-80B5-482A-9314-B5D483DFD89F}"/>
              </a:ext>
            </a:extLst>
          </p:cNvPr>
          <p:cNvSpPr>
            <a:spLocks xmlns:a="http://schemas.openxmlformats.org/drawingml/2006/main" noGrp="1"/>
          </p:cNvSpPr>
          <p:nvPr/>
        </p:nvSpPr>
        <p:spPr>
          <a:xfrm xmlns:a="http://schemas.openxmlformats.org/drawingml/2006/main">
            <a:off x="723900" y="16764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FFFFFF"/>
                </a:solidFill>
                <a:latin typeface="Apple SD Gothic Neo"/>
                <a:ea typeface="Apple SD Gothic Neo"/>
                <a:cs typeface="Apple SD Gothic Neo"/>
              </a:defRPr>
            </a:pPr>
            <a:r>
              <a:rPr sz="5700" b="1">
                <a:solidFill>
                  <a:srgbClr val="FFFFFF"/>
                </a:solidFill>
                <a:latin typeface="Apple SD Gothic Neo"/>
                <a:ea typeface="Apple SD Gothic Neo"/>
                <a:cs typeface="Apple SD Gothic Neo"/>
              </a:rPr>
              <a:t>“다 됐다”를</a:t>
            </a:r>
          </a:p>
        </p:txBody>
      </p:sp>
      <p:sp>
        <p:nvSpPr>
          <p:cNvPr id="3" name="">
            <a:extLst xmlns:a="http://schemas.openxmlformats.org/drawingml/2006/main">
              <a:ext uri="{FF2B5EF4-FFF2-40B4-BE49-F238E27FC236}">
                <a16:creationId xmlns:a16="http://schemas.microsoft.com/office/drawing/2014/main" id="{71185939-C956-43F2-855F-FCDC8A5F2F2B}"/>
              </a:ext>
            </a:extLst>
          </p:cNvPr>
          <p:cNvSpPr>
            <a:spLocks xmlns:a="http://schemas.openxmlformats.org/drawingml/2006/main" noGrp="1"/>
          </p:cNvSpPr>
          <p:nvPr/>
        </p:nvSpPr>
        <p:spPr>
          <a:xfrm xmlns:a="http://schemas.openxmlformats.org/drawingml/2006/main">
            <a:off x="723900" y="2676525"/>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FFFFFF"/>
                </a:solidFill>
                <a:latin typeface="Apple SD Gothic Neo"/>
                <a:ea typeface="Apple SD Gothic Neo"/>
                <a:cs typeface="Apple SD Gothic Neo"/>
              </a:defRPr>
            </a:pPr>
            <a:r>
              <a:rPr sz="5700" b="1">
                <a:solidFill>
                  <a:srgbClr val="FFFFFF"/>
                </a:solidFill>
                <a:latin typeface="Apple SD Gothic Neo"/>
                <a:ea typeface="Apple SD Gothic Neo"/>
                <a:cs typeface="Apple SD Gothic Neo"/>
              </a:rPr>
              <a:t>무엇으로 확인하나요?</a:t>
            </a:r>
          </a:p>
        </p:txBody>
      </p:sp>
      <p:sp>
        <p:nvSpPr>
          <p:cNvPr id="4" name="">
            <a:extLst xmlns:a="http://schemas.openxmlformats.org/drawingml/2006/main">
              <a:ext uri="{FF2B5EF4-FFF2-40B4-BE49-F238E27FC236}">
                <a16:creationId xmlns:a16="http://schemas.microsoft.com/office/drawing/2014/main" id="{22C84427-BF10-4518-92E7-39F1642D7F34}"/>
              </a:ext>
            </a:extLst>
          </p:cNvPr>
          <p:cNvSpPr>
            <a:spLocks xmlns:a="http://schemas.openxmlformats.org/drawingml/2006/main" noGrp="1"/>
          </p:cNvSpPr>
          <p:nvPr/>
        </p:nvSpPr>
        <p:spPr>
          <a:xfrm xmlns:a="http://schemas.openxmlformats.org/drawingml/2006/main">
            <a:off x="762000" y="44767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BBC8D0"/>
                </a:solidFill>
                <a:latin typeface="Apple SD Gothic Neo"/>
                <a:ea typeface="Apple SD Gothic Neo"/>
                <a:cs typeface="Apple SD Gothic Neo"/>
              </a:defRPr>
            </a:pPr>
            <a:r>
              <a:rPr sz="2550" b="0">
                <a:solidFill>
                  <a:srgbClr val="BBC8D0"/>
                </a:solidFill>
                <a:latin typeface="Apple SD Gothic Neo"/>
                <a:ea typeface="Apple SD Gothic Neo"/>
                <a:cs typeface="Apple SD Gothic Neo"/>
              </a:rPr>
              <a:t>AI가 코드를 만들면, 완료 판단은 누가 맡을까요?</a:t>
            </a:r>
          </a:p>
        </p:txBody>
      </p:sp>
    </p:spTree>
    <p:extLst>
      <p:ext uri="{BB962C8B-B14F-4D97-AF65-F5344CB8AC3E}">
        <p14:creationId xmlns:p14="http://schemas.microsoft.com/office/powerpoint/2010/main" val="229410960"/>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21043ED-1B30-47FA-AEFC-B3651D00CE9B}"/>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8개월 동안 달라진 일하는 방식</a:t>
            </a:r>
          </a:p>
        </p:txBody>
      </p:sp>
      <p:sp>
        <p:nvSpPr>
          <p:cNvPr id="2" name="">
            <a:extLst xmlns:a="http://schemas.openxmlformats.org/drawingml/2006/main">
              <a:ext uri="{FF2B5EF4-FFF2-40B4-BE49-F238E27FC236}">
                <a16:creationId xmlns:a16="http://schemas.microsoft.com/office/drawing/2014/main" id="{A5FAB3F4-C72F-4BB8-ACCD-BAF7E3CBBE36}"/>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03</a:t>
            </a:r>
          </a:p>
        </p:txBody>
      </p:sp>
      <p:sp>
        <p:nvSpPr>
          <p:cNvPr id="3" name="">
            <a:extLst xmlns:a="http://schemas.openxmlformats.org/drawingml/2006/main">
              <a:ext uri="{FF2B5EF4-FFF2-40B4-BE49-F238E27FC236}">
                <a16:creationId xmlns:a16="http://schemas.microsoft.com/office/drawing/2014/main" id="{8EFCBAC8-A8ED-4D21-AE8A-B78F5B0033B1}"/>
              </a:ext>
            </a:extLst>
          </p:cNvPr>
          <p:cNvSpPr>
            <a:spLocks xmlns:a="http://schemas.openxmlformats.org/drawingml/2006/main" noGrp="1"/>
          </p:cNvSpPr>
          <p:nvPr/>
        </p:nvSpPr>
        <p:spPr>
          <a:xfrm xmlns:a="http://schemas.openxmlformats.org/drawingml/2006/main">
            <a:off x="723900" y="1914525"/>
            <a:ext cx="1657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C7542C"/>
                </a:solidFill>
                <a:latin typeface="Apple SD Gothic Neo"/>
                <a:ea typeface="Apple SD Gothic Neo"/>
                <a:cs typeface="Apple SD Gothic Neo"/>
              </a:defRPr>
            </a:pPr>
            <a:r>
              <a:rPr sz="2625" b="1">
                <a:solidFill>
                  <a:srgbClr val="C7542C"/>
                </a:solidFill>
                <a:latin typeface="Apple SD Gothic Neo"/>
                <a:ea typeface="Apple SD Gothic Neo"/>
                <a:cs typeface="Apple SD Gothic Neo"/>
              </a:rPr>
              <a:t>합류</a:t>
            </a:r>
          </a:p>
        </p:txBody>
      </p:sp>
      <p:sp>
        <p:nvSpPr>
          <p:cNvPr id="4" name="">
            <a:extLst xmlns:a="http://schemas.openxmlformats.org/drawingml/2006/main">
              <a:ext uri="{FF2B5EF4-FFF2-40B4-BE49-F238E27FC236}">
                <a16:creationId xmlns:a16="http://schemas.microsoft.com/office/drawing/2014/main" id="{B74862D6-3996-4472-96F5-D0F08AEF4943}"/>
              </a:ext>
            </a:extLst>
          </p:cNvPr>
          <p:cNvSpPr>
            <a:spLocks xmlns:a="http://schemas.openxmlformats.org/drawingml/2006/main" noGrp="1"/>
          </p:cNvSpPr>
          <p:nvPr/>
        </p:nvSpPr>
        <p:spPr>
          <a:xfrm xmlns:a="http://schemas.openxmlformats.org/drawingml/2006/main">
            <a:off x="2809875" y="1914525"/>
            <a:ext cx="8553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92638"/>
                </a:solidFill>
                <a:latin typeface="Apple SD Gothic Neo"/>
                <a:ea typeface="Apple SD Gothic Neo"/>
                <a:cs typeface="Apple SD Gothic Neo"/>
              </a:defRPr>
            </a:pPr>
            <a:r>
              <a:rPr sz="2775" b="1">
                <a:solidFill>
                  <a:srgbClr val="192638"/>
                </a:solidFill>
                <a:latin typeface="Apple SD Gothic Neo"/>
                <a:ea typeface="Apple SD Gothic Neo"/>
                <a:cs typeface="Apple SD Gothic Neo"/>
              </a:rPr>
              <a:t>기존 개발팀과 출시 준비</a:t>
            </a:r>
          </a:p>
        </p:txBody>
      </p:sp>
      <p:sp>
        <p:nvSpPr>
          <p:cNvPr id="5" name="">
            <a:extLst xmlns:a="http://schemas.openxmlformats.org/drawingml/2006/main">
              <a:ext uri="{FF2B5EF4-FFF2-40B4-BE49-F238E27FC236}">
                <a16:creationId xmlns:a16="http://schemas.microsoft.com/office/drawing/2014/main" id="{174ED16D-1523-4088-9549-AEFA17704F42}"/>
              </a:ext>
            </a:extLst>
          </p:cNvPr>
          <p:cNvSpPr>
            <a:spLocks xmlns:a="http://schemas.openxmlformats.org/drawingml/2006/main" noGrp="1"/>
          </p:cNvSpPr>
          <p:nvPr/>
        </p:nvSpPr>
        <p:spPr>
          <a:xfrm xmlns:a="http://schemas.openxmlformats.org/drawingml/2006/main">
            <a:off x="2838450" y="2514600"/>
            <a:ext cx="853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36171"/>
                </a:solidFill>
                <a:latin typeface="Apple SD Gothic Neo"/>
                <a:ea typeface="Apple SD Gothic Neo"/>
                <a:cs typeface="Apple SD Gothic Neo"/>
              </a:defRPr>
            </a:pPr>
            <a:r>
              <a:rPr sz="2175" b="0">
                <a:solidFill>
                  <a:srgbClr val="536171"/>
                </a:solidFill>
                <a:latin typeface="Apple SD Gothic Neo"/>
                <a:ea typeface="Apple SD Gothic Neo"/>
                <a:cs typeface="Apple SD Gothic Neo"/>
              </a:rPr>
              <a:t>이미 만든 것을 서비스로 연결</a:t>
            </a:r>
          </a:p>
        </p:txBody>
      </p:sp>
      <p:sp>
        <p:nvSpPr>
          <p:cNvPr id="6" name="">
            <a:extLst xmlns:a="http://schemas.openxmlformats.org/drawingml/2006/main">
              <a:ext uri="{FF2B5EF4-FFF2-40B4-BE49-F238E27FC236}">
                <a16:creationId xmlns:a16="http://schemas.microsoft.com/office/drawing/2014/main" id="{56B20A4D-2113-4D56-B1BF-BB7EBF64792C}"/>
              </a:ext>
            </a:extLst>
          </p:cNvPr>
          <p:cNvSpPr>
            <a:spLocks xmlns:a="http://schemas.openxmlformats.org/drawingml/2006/main" noGrp="1"/>
          </p:cNvSpPr>
          <p:nvPr/>
        </p:nvSpPr>
        <p:spPr>
          <a:xfrm xmlns:a="http://schemas.openxmlformats.org/drawingml/2006/main">
            <a:off x="723900" y="3200400"/>
            <a:ext cx="1657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C7542C"/>
                </a:solidFill>
                <a:latin typeface="Apple SD Gothic Neo"/>
                <a:ea typeface="Apple SD Gothic Neo"/>
                <a:cs typeface="Apple SD Gothic Neo"/>
              </a:defRPr>
            </a:pPr>
            <a:r>
              <a:rPr sz="2625" b="1">
                <a:solidFill>
                  <a:srgbClr val="C7542C"/>
                </a:solidFill>
                <a:latin typeface="Apple SD Gothic Neo"/>
                <a:ea typeface="Apple SD Gothic Neo"/>
                <a:cs typeface="Apple SD Gothic Neo"/>
              </a:rPr>
              <a:t>4월</a:t>
            </a:r>
          </a:p>
        </p:txBody>
      </p:sp>
      <p:sp>
        <p:nvSpPr>
          <p:cNvPr id="7" name="">
            <a:extLst xmlns:a="http://schemas.openxmlformats.org/drawingml/2006/main">
              <a:ext uri="{FF2B5EF4-FFF2-40B4-BE49-F238E27FC236}">
                <a16:creationId xmlns:a16="http://schemas.microsoft.com/office/drawing/2014/main" id="{D8E087EC-CA14-46BC-81F4-D39CD99B9571}"/>
              </a:ext>
            </a:extLst>
          </p:cNvPr>
          <p:cNvSpPr>
            <a:spLocks xmlns:a="http://schemas.openxmlformats.org/drawingml/2006/main" noGrp="1"/>
          </p:cNvSpPr>
          <p:nvPr/>
        </p:nvSpPr>
        <p:spPr>
          <a:xfrm xmlns:a="http://schemas.openxmlformats.org/drawingml/2006/main">
            <a:off x="2809875" y="3200400"/>
            <a:ext cx="8553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92638"/>
                </a:solidFill>
                <a:latin typeface="Apple SD Gothic Neo"/>
                <a:ea typeface="Apple SD Gothic Neo"/>
                <a:cs typeface="Apple SD Gothic Neo"/>
              </a:defRPr>
            </a:pPr>
            <a:r>
              <a:rPr sz="2775" b="1">
                <a:solidFill>
                  <a:srgbClr val="192638"/>
                </a:solidFill>
                <a:latin typeface="Apple SD Gothic Neo"/>
                <a:ea typeface="Apple SD Gothic Neo"/>
                <a:cs typeface="Apple SD Gothic Neo"/>
              </a:rPr>
              <a:t>AI와 단독 개발</a:t>
            </a:r>
          </a:p>
        </p:txBody>
      </p:sp>
      <p:sp>
        <p:nvSpPr>
          <p:cNvPr id="8" name="">
            <a:extLst xmlns:a="http://schemas.openxmlformats.org/drawingml/2006/main">
              <a:ext uri="{FF2B5EF4-FFF2-40B4-BE49-F238E27FC236}">
                <a16:creationId xmlns:a16="http://schemas.microsoft.com/office/drawing/2014/main" id="{FB7C8D32-16D6-42A0-8767-853EAE722DB3}"/>
              </a:ext>
            </a:extLst>
          </p:cNvPr>
          <p:cNvSpPr>
            <a:spLocks xmlns:a="http://schemas.openxmlformats.org/drawingml/2006/main" noGrp="1"/>
          </p:cNvSpPr>
          <p:nvPr/>
        </p:nvSpPr>
        <p:spPr>
          <a:xfrm xmlns:a="http://schemas.openxmlformats.org/drawingml/2006/main">
            <a:off x="2838450" y="3800475"/>
            <a:ext cx="853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36171"/>
                </a:solidFill>
                <a:latin typeface="Apple SD Gothic Neo"/>
                <a:ea typeface="Apple SD Gothic Neo"/>
                <a:cs typeface="Apple SD Gothic Neo"/>
              </a:defRPr>
            </a:pPr>
            <a:r>
              <a:rPr sz="2175" b="0">
                <a:solidFill>
                  <a:srgbClr val="536171"/>
                </a:solidFill>
                <a:latin typeface="Apple SD Gothic Neo"/>
                <a:ea typeface="Apple SD Gothic Neo"/>
                <a:cs typeface="Apple SD Gothic Neo"/>
              </a:rPr>
              <a:t>구현 범위가 넓어지고 검증이 병목</a:t>
            </a:r>
          </a:p>
        </p:txBody>
      </p:sp>
      <p:sp>
        <p:nvSpPr>
          <p:cNvPr id="9" name="">
            <a:extLst xmlns:a="http://schemas.openxmlformats.org/drawingml/2006/main">
              <a:ext uri="{FF2B5EF4-FFF2-40B4-BE49-F238E27FC236}">
                <a16:creationId xmlns:a16="http://schemas.microsoft.com/office/drawing/2014/main" id="{E53F0BCE-CCA1-4093-BBDA-E701ADD7EF4C}"/>
              </a:ext>
            </a:extLst>
          </p:cNvPr>
          <p:cNvSpPr>
            <a:spLocks xmlns:a="http://schemas.openxmlformats.org/drawingml/2006/main" noGrp="1"/>
          </p:cNvSpPr>
          <p:nvPr/>
        </p:nvSpPr>
        <p:spPr>
          <a:xfrm xmlns:a="http://schemas.openxmlformats.org/drawingml/2006/main">
            <a:off x="723900" y="4486275"/>
            <a:ext cx="1657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C7542C"/>
                </a:solidFill>
                <a:latin typeface="Apple SD Gothic Neo"/>
                <a:ea typeface="Apple SD Gothic Neo"/>
                <a:cs typeface="Apple SD Gothic Neo"/>
              </a:defRPr>
            </a:pPr>
            <a:r>
              <a:rPr sz="2625" b="1">
                <a:solidFill>
                  <a:srgbClr val="C7542C"/>
                </a:solidFill>
                <a:latin typeface="Apple SD Gothic Neo"/>
                <a:ea typeface="Apple SD Gothic Neo"/>
                <a:cs typeface="Apple SD Gothic Neo"/>
              </a:rPr>
              <a:t>5월 이후</a:t>
            </a:r>
          </a:p>
        </p:txBody>
      </p:sp>
      <p:sp>
        <p:nvSpPr>
          <p:cNvPr id="10" name="">
            <a:extLst xmlns:a="http://schemas.openxmlformats.org/drawingml/2006/main">
              <a:ext uri="{FF2B5EF4-FFF2-40B4-BE49-F238E27FC236}">
                <a16:creationId xmlns:a16="http://schemas.microsoft.com/office/drawing/2014/main" id="{37D71FC1-1274-4FE9-AB8D-5C22B91A6470}"/>
              </a:ext>
            </a:extLst>
          </p:cNvPr>
          <p:cNvSpPr>
            <a:spLocks xmlns:a="http://schemas.openxmlformats.org/drawingml/2006/main" noGrp="1"/>
          </p:cNvSpPr>
          <p:nvPr/>
        </p:nvSpPr>
        <p:spPr>
          <a:xfrm xmlns:a="http://schemas.openxmlformats.org/drawingml/2006/main">
            <a:off x="2809875" y="4486275"/>
            <a:ext cx="8553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92638"/>
                </a:solidFill>
                <a:latin typeface="Apple SD Gothic Neo"/>
                <a:ea typeface="Apple SD Gothic Neo"/>
                <a:cs typeface="Apple SD Gothic Neo"/>
              </a:defRPr>
            </a:pPr>
            <a:r>
              <a:rPr sz="2775" b="1">
                <a:solidFill>
                  <a:srgbClr val="192638"/>
                </a:solidFill>
                <a:latin typeface="Apple SD Gothic Neo"/>
                <a:ea typeface="Apple SD Gothic Neo"/>
                <a:cs typeface="Apple SD Gothic Neo"/>
              </a:rPr>
              <a:t>대표가 AI로 개발 주도</a:t>
            </a:r>
          </a:p>
        </p:txBody>
      </p:sp>
      <p:sp>
        <p:nvSpPr>
          <p:cNvPr id="11" name="">
            <a:extLst xmlns:a="http://schemas.openxmlformats.org/drawingml/2006/main">
              <a:ext uri="{FF2B5EF4-FFF2-40B4-BE49-F238E27FC236}">
                <a16:creationId xmlns:a16="http://schemas.microsoft.com/office/drawing/2014/main" id="{2DE42331-A6D6-4651-AD54-2B30D5D5AD23}"/>
              </a:ext>
            </a:extLst>
          </p:cNvPr>
          <p:cNvSpPr>
            <a:spLocks xmlns:a="http://schemas.openxmlformats.org/drawingml/2006/main" noGrp="1"/>
          </p:cNvSpPr>
          <p:nvPr/>
        </p:nvSpPr>
        <p:spPr>
          <a:xfrm xmlns:a="http://schemas.openxmlformats.org/drawingml/2006/main">
            <a:off x="2838450" y="5086350"/>
            <a:ext cx="853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36171"/>
                </a:solidFill>
                <a:latin typeface="Apple SD Gothic Neo"/>
                <a:ea typeface="Apple SD Gothic Neo"/>
                <a:cs typeface="Apple SD Gothic Neo"/>
              </a:defRPr>
            </a:pPr>
            <a:r>
              <a:rPr sz="2175" b="0">
                <a:solidFill>
                  <a:srgbClr val="536171"/>
                </a:solidFill>
                <a:latin typeface="Apple SD Gothic Neo"/>
                <a:ea typeface="Apple SD Gothic Neo"/>
                <a:cs typeface="Apple SD Gothic Neo"/>
              </a:rPr>
              <a:t>기술 선택과 일정의 결정권 변화</a:t>
            </a:r>
          </a:p>
        </p:txBody>
      </p:sp>
      <p:sp>
        <p:nvSpPr>
          <p:cNvPr id="12" name="">
            <a:extLst xmlns:a="http://schemas.openxmlformats.org/drawingml/2006/main">
              <a:ext uri="{FF2B5EF4-FFF2-40B4-BE49-F238E27FC236}">
                <a16:creationId xmlns:a16="http://schemas.microsoft.com/office/drawing/2014/main" id="{88CC3D64-1880-4383-A6CE-3FEE877452EA}"/>
              </a:ext>
            </a:extLst>
          </p:cNvPr>
          <p:cNvSpPr>
            <a:spLocks xmlns:a="http://schemas.openxmlformats.org/drawingml/2006/main" noGrp="1"/>
          </p:cNvSpPr>
          <p:nvPr/>
        </p:nvSpPr>
        <p:spPr>
          <a:xfrm xmlns:a="http://schemas.openxmlformats.org/drawingml/2006/main">
            <a:off x="723900" y="60102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171"/>
                </a:solidFill>
                <a:latin typeface="Apple SD Gothic Neo"/>
                <a:ea typeface="Apple SD Gothic Neo"/>
                <a:cs typeface="Apple SD Gothic Neo"/>
              </a:defRPr>
            </a:pPr>
            <a:r>
              <a:rPr sz="1725" b="0">
                <a:solidFill>
                  <a:srgbClr val="536171"/>
                </a:solidFill>
                <a:latin typeface="Apple SD Gothic Neo"/>
                <a:ea typeface="Apple SD Gothic Neo"/>
                <a:cs typeface="Apple SD Gothic Neo"/>
              </a:rPr>
              <a:t>당시 사용 모델은 Opus 4.5부터 5.0까지였습니다.</a:t>
            </a:r>
          </a:p>
        </p:txBody>
      </p:sp>
    </p:spTree>
    <p:extLst>
      <p:ext uri="{BB962C8B-B14F-4D97-AF65-F5344CB8AC3E}">
        <p14:creationId xmlns:p14="http://schemas.microsoft.com/office/powerpoint/2010/main" val="1408566668"/>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380CD7-AF37-46F3-90E4-76937C07D143}"/>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미술관 납품을 앞둔 티켓 서비스</a:t>
            </a:r>
          </a:p>
        </p:txBody>
      </p:sp>
      <p:sp>
        <p:nvSpPr>
          <p:cNvPr id="2" name="">
            <a:extLst xmlns:a="http://schemas.openxmlformats.org/drawingml/2006/main">
              <a:ext uri="{FF2B5EF4-FFF2-40B4-BE49-F238E27FC236}">
                <a16:creationId xmlns:a16="http://schemas.microsoft.com/office/drawing/2014/main" id="{5B89C58D-EF99-4FA1-A387-88F871533FA8}"/>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04</a:t>
            </a:r>
          </a:p>
        </p:txBody>
      </p:sp>
      <p:sp>
        <p:nvSpPr>
          <p:cNvPr id="3" name="">
            <a:extLst xmlns:a="http://schemas.openxmlformats.org/drawingml/2006/main">
              <a:ext uri="{FF2B5EF4-FFF2-40B4-BE49-F238E27FC236}">
                <a16:creationId xmlns:a16="http://schemas.microsoft.com/office/drawing/2014/main" id="{8AF60E09-B496-43FF-AD62-17E8F72B4CF7}"/>
              </a:ext>
            </a:extLst>
          </p:cNvPr>
          <p:cNvSpPr>
            <a:spLocks xmlns:a="http://schemas.openxmlformats.org/drawingml/2006/main" noGrp="1"/>
          </p:cNvSpPr>
          <p:nvPr/>
        </p:nvSpPr>
        <p:spPr>
          <a:xfrm xmlns:a="http://schemas.openxmlformats.org/drawingml/2006/main">
            <a:off x="723900" y="2076450"/>
            <a:ext cx="4095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0" b="1">
                <a:solidFill>
                  <a:srgbClr val="C7542C"/>
                </a:solidFill>
                <a:latin typeface="Apple SD Gothic Neo"/>
                <a:ea typeface="Apple SD Gothic Neo"/>
                <a:cs typeface="Apple SD Gothic Neo"/>
              </a:defRPr>
            </a:pPr>
            <a:r>
              <a:rPr sz="11250" b="1">
                <a:solidFill>
                  <a:srgbClr val="C7542C"/>
                </a:solidFill>
                <a:latin typeface="Apple SD Gothic Neo"/>
                <a:ea typeface="Apple SD Gothic Neo"/>
                <a:cs typeface="Apple SD Gothic Neo"/>
              </a:rPr>
              <a:t>4주</a:t>
            </a:r>
          </a:p>
        </p:txBody>
      </p:sp>
      <p:sp>
        <p:nvSpPr>
          <p:cNvPr id="4" name="">
            <a:extLst xmlns:a="http://schemas.openxmlformats.org/drawingml/2006/main">
              <a:ext uri="{FF2B5EF4-FFF2-40B4-BE49-F238E27FC236}">
                <a16:creationId xmlns:a16="http://schemas.microsoft.com/office/drawing/2014/main" id="{9067F9BC-C0EB-490A-B183-1ACAA253DF17}"/>
              </a:ext>
            </a:extLst>
          </p:cNvPr>
          <p:cNvSpPr>
            <a:spLocks xmlns:a="http://schemas.openxmlformats.org/drawingml/2006/main" noGrp="1"/>
          </p:cNvSpPr>
          <p:nvPr/>
        </p:nvSpPr>
        <p:spPr>
          <a:xfrm xmlns:a="http://schemas.openxmlformats.org/drawingml/2006/main">
            <a:off x="781050" y="3895725"/>
            <a:ext cx="4714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92638"/>
                </a:solidFill>
                <a:latin typeface="Apple SD Gothic Neo"/>
                <a:ea typeface="Apple SD Gothic Neo"/>
                <a:cs typeface="Apple SD Gothic Neo"/>
              </a:defRPr>
            </a:pPr>
            <a:r>
              <a:rPr sz="2400" b="0">
                <a:solidFill>
                  <a:srgbClr val="192638"/>
                </a:solidFill>
                <a:latin typeface="Apple SD Gothic Neo"/>
                <a:ea typeface="Apple SD Gothic Neo"/>
                <a:cs typeface="Apple SD Gothic Neo"/>
              </a:rPr>
              <a:t>미술관 납품까지 남은 시간</a:t>
            </a:r>
          </a:p>
        </p:txBody>
      </p:sp>
      <p:sp>
        <p:nvSpPr>
          <p:cNvPr id="5" name="">
            <a:extLst xmlns:a="http://schemas.openxmlformats.org/drawingml/2006/main">
              <a:ext uri="{FF2B5EF4-FFF2-40B4-BE49-F238E27FC236}">
                <a16:creationId xmlns:a16="http://schemas.microsoft.com/office/drawing/2014/main" id="{5DB03A7B-466B-4F6A-BC8F-5409B8C89C10}"/>
              </a:ext>
            </a:extLst>
          </p:cNvPr>
          <p:cNvSpPr>
            <a:spLocks xmlns:a="http://schemas.openxmlformats.org/drawingml/2006/main" noGrp="1"/>
          </p:cNvSpPr>
          <p:nvPr/>
        </p:nvSpPr>
        <p:spPr>
          <a:xfrm xmlns:a="http://schemas.openxmlformats.org/drawingml/2006/main">
            <a:off x="6096000" y="2057400"/>
            <a:ext cx="5381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92638"/>
                </a:solidFill>
                <a:latin typeface="Apple SD Gothic Neo"/>
                <a:ea typeface="Apple SD Gothic Neo"/>
                <a:cs typeface="Apple SD Gothic Neo"/>
              </a:defRPr>
            </a:pPr>
            <a:r>
              <a:rPr sz="2700" b="1">
                <a:solidFill>
                  <a:srgbClr val="192638"/>
                </a:solidFill>
                <a:latin typeface="Apple SD Gothic Neo"/>
                <a:ea typeface="Apple SD Gothic Neo"/>
                <a:cs typeface="Apple SD Gothic Neo"/>
              </a:rPr>
              <a:t>8년 동안 출시하지 못한 서비스</a:t>
            </a:r>
          </a:p>
        </p:txBody>
      </p:sp>
      <p:sp>
        <p:nvSpPr>
          <p:cNvPr id="6" name="">
            <a:extLst xmlns:a="http://schemas.openxmlformats.org/drawingml/2006/main">
              <a:ext uri="{FF2B5EF4-FFF2-40B4-BE49-F238E27FC236}">
                <a16:creationId xmlns:a16="http://schemas.microsoft.com/office/drawing/2014/main" id="{53DA523B-C57E-4DDA-8AF1-7842355200D6}"/>
              </a:ext>
            </a:extLst>
          </p:cNvPr>
          <p:cNvSpPr>
            <a:spLocks xmlns:a="http://schemas.openxmlformats.org/drawingml/2006/main" noGrp="1"/>
          </p:cNvSpPr>
          <p:nvPr/>
        </p:nvSpPr>
        <p:spPr>
          <a:xfrm xmlns:a="http://schemas.openxmlformats.org/drawingml/2006/main">
            <a:off x="6096000" y="3105150"/>
            <a:ext cx="5381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92638"/>
                </a:solidFill>
                <a:latin typeface="Apple SD Gothic Neo"/>
                <a:ea typeface="Apple SD Gothic Neo"/>
                <a:cs typeface="Apple SD Gothic Neo"/>
              </a:defRPr>
            </a:pPr>
            <a:r>
              <a:rPr sz="3000" b="1">
                <a:solidFill>
                  <a:srgbClr val="192638"/>
                </a:solidFill>
                <a:latin typeface="Apple SD Gothic Neo"/>
                <a:ea typeface="Apple SD Gothic Neo"/>
                <a:cs typeface="Apple SD Gothic Neo"/>
              </a:rPr>
              <a:t>개발자 3명이</a:t>
            </a:r>
          </a:p>
          <a:p xmlns:a="http://schemas.openxmlformats.org/drawingml/2006/main">
            <a:pPr algn="l">
              <a:defRPr sz="3000" b="1">
                <a:solidFill>
                  <a:srgbClr val="192638"/>
                </a:solidFill>
                <a:latin typeface="Apple SD Gothic Neo"/>
                <a:ea typeface="Apple SD Gothic Neo"/>
                <a:cs typeface="Apple SD Gothic Neo"/>
              </a:defRPr>
            </a:pPr>
            <a:r>
              <a:rPr sz="3000" b="1">
                <a:solidFill>
                  <a:srgbClr val="192638"/>
                </a:solidFill>
                <a:latin typeface="Apple SD Gothic Neo"/>
                <a:ea typeface="Apple SD Gothic Neo"/>
                <a:cs typeface="Apple SD Gothic Neo"/>
              </a:rPr>
              <a:t>앱·서버 8개를 개발</a:t>
            </a:r>
          </a:p>
        </p:txBody>
      </p:sp>
      <p:sp>
        <p:nvSpPr>
          <p:cNvPr id="7" name="">
            <a:extLst xmlns:a="http://schemas.openxmlformats.org/drawingml/2006/main">
              <a:ext uri="{FF2B5EF4-FFF2-40B4-BE49-F238E27FC236}">
                <a16:creationId xmlns:a16="http://schemas.microsoft.com/office/drawing/2014/main" id="{F43EFD20-B70C-4BC4-84D1-010AB9462D7D}"/>
              </a:ext>
            </a:extLst>
          </p:cNvPr>
          <p:cNvSpPr>
            <a:spLocks xmlns:a="http://schemas.openxmlformats.org/drawingml/2006/main" noGrp="1"/>
          </p:cNvSpPr>
          <p:nvPr/>
        </p:nvSpPr>
        <p:spPr>
          <a:xfrm xmlns:a="http://schemas.openxmlformats.org/drawingml/2006/main">
            <a:off x="6096000" y="4943475"/>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36171"/>
                </a:solidFill>
                <a:latin typeface="Apple SD Gothic Neo"/>
                <a:ea typeface="Apple SD Gothic Neo"/>
                <a:cs typeface="Apple SD Gothic Neo"/>
              </a:defRPr>
            </a:pPr>
            <a:r>
              <a:rPr sz="2250" b="0">
                <a:solidFill>
                  <a:srgbClr val="536171"/>
                </a:solidFill>
                <a:latin typeface="Apple SD Gothic Neo"/>
                <a:ea typeface="Apple SD Gothic Neo"/>
                <a:cs typeface="Apple SD Gothic Neo"/>
              </a:rPr>
              <a:t>팀장 퇴사와 인수인계도 동시에</a:t>
            </a:r>
          </a:p>
        </p:txBody>
      </p:sp>
    </p:spTree>
    <p:extLst>
      <p:ext uri="{BB962C8B-B14F-4D97-AF65-F5344CB8AC3E}">
        <p14:creationId xmlns:p14="http://schemas.microsoft.com/office/powerpoint/2010/main" val="1857644128"/>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99AFB9-4558-4DDB-8D11-E6A97FF593E8}"/>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실행하자 기본 기능부터 오류가 났다</a:t>
            </a:r>
          </a:p>
        </p:txBody>
      </p:sp>
      <p:sp>
        <p:nvSpPr>
          <p:cNvPr id="2" name="">
            <a:extLst xmlns:a="http://schemas.openxmlformats.org/drawingml/2006/main">
              <a:ext uri="{FF2B5EF4-FFF2-40B4-BE49-F238E27FC236}">
                <a16:creationId xmlns:a16="http://schemas.microsoft.com/office/drawing/2014/main" id="{AC7B1C30-F57D-4A8C-8E53-603E486B6E69}"/>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05</a:t>
            </a:r>
          </a:p>
        </p:txBody>
      </p:sp>
      <p:sp>
        <p:nvSpPr>
          <p:cNvPr id="3" name="">
            <a:extLst xmlns:a="http://schemas.openxmlformats.org/drawingml/2006/main">
              <a:ext uri="{FF2B5EF4-FFF2-40B4-BE49-F238E27FC236}">
                <a16:creationId xmlns:a16="http://schemas.microsoft.com/office/drawing/2014/main" id="{6CDE7788-8D2A-4575-A244-CCCCDF5B22CD}"/>
              </a:ext>
            </a:extLst>
          </p:cNvPr>
          <p:cNvSpPr>
            <a:spLocks xmlns:a="http://schemas.openxmlformats.org/drawingml/2006/main" noGrp="1"/>
          </p:cNvSpPr>
          <p:nvPr/>
        </p:nvSpPr>
        <p:spPr>
          <a:xfrm xmlns:a="http://schemas.openxmlformats.org/drawingml/2006/main">
            <a:off x="723900" y="2124075"/>
            <a:ext cx="5619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C7542C"/>
                </a:solidFill>
                <a:latin typeface="Apple SD Gothic Neo"/>
                <a:ea typeface="Apple SD Gothic Neo"/>
                <a:cs typeface="Apple SD Gothic Neo"/>
              </a:defRPr>
            </a:pPr>
            <a:r>
              <a:rPr sz="3600" b="1">
                <a:solidFill>
                  <a:srgbClr val="C7542C"/>
                </a:solidFill>
                <a:latin typeface="Apple SD Gothic Neo"/>
                <a:ea typeface="Apple SD Gothic Neo"/>
                <a:cs typeface="Apple SD Gothic Neo"/>
              </a:rPr>
              <a:t>“거의 다 됐다”</a:t>
            </a:r>
          </a:p>
        </p:txBody>
      </p:sp>
      <p:sp>
        <p:nvSpPr>
          <p:cNvPr id="4" name="">
            <a:extLst xmlns:a="http://schemas.openxmlformats.org/drawingml/2006/main">
              <a:ext uri="{FF2B5EF4-FFF2-40B4-BE49-F238E27FC236}">
                <a16:creationId xmlns:a16="http://schemas.microsoft.com/office/drawing/2014/main" id="{F18DBD23-43BA-4C4A-AF3C-23F62157796A}"/>
              </a:ext>
            </a:extLst>
          </p:cNvPr>
          <p:cNvSpPr>
            <a:spLocks xmlns:a="http://schemas.openxmlformats.org/drawingml/2006/main" noGrp="1"/>
          </p:cNvSpPr>
          <p:nvPr/>
        </p:nvSpPr>
        <p:spPr>
          <a:xfrm xmlns:a="http://schemas.openxmlformats.org/drawingml/2006/main">
            <a:off x="762000" y="3219450"/>
            <a:ext cx="5334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92638"/>
                </a:solidFill>
                <a:latin typeface="Apple SD Gothic Neo"/>
                <a:ea typeface="Apple SD Gothic Neo"/>
                <a:cs typeface="Apple SD Gothic Neo"/>
              </a:defRPr>
            </a:pPr>
            <a:r>
              <a:rPr sz="2700" b="0">
                <a:solidFill>
                  <a:srgbClr val="192638"/>
                </a:solidFill>
                <a:latin typeface="Apple SD Gothic Neo"/>
                <a:ea typeface="Apple SD Gothic Neo"/>
                <a:cs typeface="Apple SD Gothic Neo"/>
              </a:rPr>
              <a:t>인증부터 오류</a:t>
            </a:r>
          </a:p>
          <a:p xmlns:a="http://schemas.openxmlformats.org/drawingml/2006/main">
            <a:pPr algn="l">
              <a:defRPr sz="2700" b="0">
                <a:solidFill>
                  <a:srgbClr val="192638"/>
                </a:solidFill>
                <a:latin typeface="Apple SD Gothic Neo"/>
                <a:ea typeface="Apple SD Gothic Neo"/>
                <a:cs typeface="Apple SD Gothic Neo"/>
              </a:defRPr>
            </a:pPr>
            <a:r>
              <a:rPr sz="2700" b="0">
                <a:solidFill>
                  <a:srgbClr val="192638"/>
                </a:solidFill>
                <a:latin typeface="Apple SD Gothic Neo"/>
                <a:ea typeface="Apple SD Gothic Neo"/>
                <a:cs typeface="Apple SD Gothic Neo"/>
              </a:rPr>
              <a:t>화면과 기능은 있었지만</a:t>
            </a:r>
          </a:p>
          <a:p xmlns:a="http://schemas.openxmlformats.org/drawingml/2006/main">
            <a:pPr algn="l">
              <a:defRPr sz="2700" b="0">
                <a:solidFill>
                  <a:srgbClr val="192638"/>
                </a:solidFill>
                <a:latin typeface="Apple SD Gothic Neo"/>
                <a:ea typeface="Apple SD Gothic Neo"/>
                <a:cs typeface="Apple SD Gothic Neo"/>
              </a:defRPr>
            </a:pPr>
            <a:r>
              <a:rPr sz="2700" b="0">
                <a:solidFill>
                  <a:srgbClr val="192638"/>
                </a:solidFill>
                <a:latin typeface="Apple SD Gothic Neo"/>
                <a:ea typeface="Apple SD Gothic Neo"/>
                <a:cs typeface="Apple SD Gothic Neo"/>
              </a:rPr>
              <a:t>실제 이용 흐름은 미완성</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f28893facdd4ca2"/>
          <a:stretch xmlns:a="http://schemas.openxmlformats.org/drawingml/2006/main"/>
        </p:blipFill>
        <p:spPr>
          <a:xfrm xmlns:a="http://schemas.openxmlformats.org/drawingml/2006/main">
            <a:off x="6948488" y="1876425"/>
            <a:ext cx="4171950" cy="4171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E024187-5FF0-4AED-AEFD-3BF06158D26D}"/>
              </a:ext>
            </a:extLst>
          </p:cNvPr>
          <p:cNvSpPr>
            <a:spLocks xmlns:a="http://schemas.openxmlformats.org/drawingml/2006/main" noGrp="1"/>
          </p:cNvSpPr>
          <p:nvPr/>
        </p:nvSpPr>
        <p:spPr>
          <a:xfrm xmlns:a="http://schemas.openxmlformats.org/drawingml/2006/main">
            <a:off x="9810750" y="6105525"/>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75" b="0">
                <a:solidFill>
                  <a:srgbClr val="536171"/>
                </a:solidFill>
                <a:latin typeface="Apple SD Gothic Neo"/>
                <a:ea typeface="Apple SD Gothic Neo"/>
                <a:cs typeface="Apple SD Gothic Neo"/>
              </a:defRPr>
            </a:pPr>
            <a:r>
              <a:rPr sz="1575" b="0">
                <a:solidFill>
                  <a:srgbClr val="536171"/>
                </a:solidFill>
                <a:latin typeface="Apple SD Gothic Neo"/>
                <a:ea typeface="Apple SD Gothic Neo"/>
                <a:cs typeface="Apple SD Gothic Neo"/>
              </a:rPr>
              <a:t>설명용 삽화</a:t>
            </a:r>
          </a:p>
        </p:txBody>
      </p:sp>
    </p:spTree>
    <p:extLst>
      <p:ext uri="{BB962C8B-B14F-4D97-AF65-F5344CB8AC3E}">
        <p14:creationId xmlns:p14="http://schemas.microsoft.com/office/powerpoint/2010/main" val="527486532"/>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637EA5-D9C7-4E74-A370-D2B87DB6DFA6}"/>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AI로 기존 시스템의 윤곽을 파악했다</a:t>
            </a:r>
          </a:p>
        </p:txBody>
      </p:sp>
      <p:sp>
        <p:nvSpPr>
          <p:cNvPr id="2" name="">
            <a:extLst xmlns:a="http://schemas.openxmlformats.org/drawingml/2006/main">
              <a:ext uri="{FF2B5EF4-FFF2-40B4-BE49-F238E27FC236}">
                <a16:creationId xmlns:a16="http://schemas.microsoft.com/office/drawing/2014/main" id="{9D3B3EC9-80D4-45BD-9221-E6D43BA18681}"/>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06</a:t>
            </a:r>
          </a:p>
        </p:txBody>
      </p:sp>
      <p:sp>
        <p:nvSpPr>
          <p:cNvPr id="3" name="">
            <a:extLst xmlns:a="http://schemas.openxmlformats.org/drawingml/2006/main">
              <a:ext uri="{FF2B5EF4-FFF2-40B4-BE49-F238E27FC236}">
                <a16:creationId xmlns:a16="http://schemas.microsoft.com/office/drawing/2014/main" id="{79F40B6E-A601-49CF-A8A3-F0682D7183E3}"/>
              </a:ext>
            </a:extLst>
          </p:cNvPr>
          <p:cNvSpPr>
            <a:spLocks xmlns:a="http://schemas.openxmlformats.org/drawingml/2006/main" noGrp="1"/>
          </p:cNvSpPr>
          <p:nvPr/>
        </p:nvSpPr>
        <p:spPr>
          <a:xfrm xmlns:a="http://schemas.openxmlformats.org/drawingml/2006/main">
            <a:off x="723900" y="2124075"/>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400" b="1">
                <a:solidFill>
                  <a:srgbClr val="C7542C"/>
                </a:solidFill>
                <a:latin typeface="Apple SD Gothic Neo"/>
                <a:ea typeface="Apple SD Gothic Neo"/>
                <a:cs typeface="Apple SD Gothic Neo"/>
              </a:defRPr>
            </a:pPr>
            <a:r>
              <a:rPr sz="8400" b="1">
                <a:solidFill>
                  <a:srgbClr val="C7542C"/>
                </a:solidFill>
                <a:latin typeface="Apple SD Gothic Neo"/>
                <a:ea typeface="Apple SD Gothic Neo"/>
                <a:cs typeface="Apple SD Gothic Neo"/>
              </a:rPr>
              <a:t>하루</a:t>
            </a:r>
          </a:p>
        </p:txBody>
      </p:sp>
      <p:sp>
        <p:nvSpPr>
          <p:cNvPr id="4" name="">
            <a:extLst xmlns:a="http://schemas.openxmlformats.org/drawingml/2006/main">
              <a:ext uri="{FF2B5EF4-FFF2-40B4-BE49-F238E27FC236}">
                <a16:creationId xmlns:a16="http://schemas.microsoft.com/office/drawing/2014/main" id="{E0064860-E902-4F51-B1B4-A43A49FA3B70}"/>
              </a:ext>
            </a:extLst>
          </p:cNvPr>
          <p:cNvSpPr>
            <a:spLocks xmlns:a="http://schemas.openxmlformats.org/drawingml/2006/main" noGrp="1"/>
          </p:cNvSpPr>
          <p:nvPr/>
        </p:nvSpPr>
        <p:spPr>
          <a:xfrm xmlns:a="http://schemas.openxmlformats.org/drawingml/2006/main">
            <a:off x="762000" y="3771900"/>
            <a:ext cx="504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92638"/>
                </a:solidFill>
                <a:latin typeface="Apple SD Gothic Neo"/>
                <a:ea typeface="Apple SD Gothic Neo"/>
                <a:cs typeface="Apple SD Gothic Neo"/>
              </a:defRPr>
            </a:pPr>
            <a:r>
              <a:rPr sz="2400" b="0">
                <a:solidFill>
                  <a:srgbClr val="192638"/>
                </a:solidFill>
                <a:latin typeface="Apple SD Gothic Neo"/>
                <a:ea typeface="Apple SD Gothic Neo"/>
                <a:cs typeface="Apple SD Gothic Neo"/>
              </a:rPr>
              <a:t>기능과 연결 관계의 윤곽 파악</a:t>
            </a:r>
          </a:p>
        </p:txBody>
      </p:sp>
      <p:sp>
        <p:nvSpPr>
          <p:cNvPr id="5" name="">
            <a:extLst xmlns:a="http://schemas.openxmlformats.org/drawingml/2006/main">
              <a:ext uri="{FF2B5EF4-FFF2-40B4-BE49-F238E27FC236}">
                <a16:creationId xmlns:a16="http://schemas.microsoft.com/office/drawing/2014/main" id="{3077A54E-DB68-46B1-A6D1-F1923492FCFB}"/>
              </a:ext>
            </a:extLst>
          </p:cNvPr>
          <p:cNvSpPr>
            <a:spLocks xmlns:a="http://schemas.openxmlformats.org/drawingml/2006/main" noGrp="1"/>
          </p:cNvSpPr>
          <p:nvPr/>
        </p:nvSpPr>
        <p:spPr>
          <a:xfrm xmlns:a="http://schemas.openxmlformats.org/drawingml/2006/main">
            <a:off x="6286500" y="2143125"/>
            <a:ext cx="5191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92638"/>
                </a:solidFill>
                <a:latin typeface="Apple SD Gothic Neo"/>
                <a:ea typeface="Apple SD Gothic Neo"/>
                <a:cs typeface="Apple SD Gothic Neo"/>
              </a:defRPr>
            </a:pPr>
            <a:r>
              <a:rPr sz="2625" b="1">
                <a:solidFill>
                  <a:srgbClr val="192638"/>
                </a:solidFill>
                <a:latin typeface="Apple SD Gothic Neo"/>
                <a:ea typeface="Apple SD Gothic Neo"/>
                <a:cs typeface="Apple SD Gothic Neo"/>
              </a:rPr>
              <a:t>화면·서버·DB를 연결해 조사</a:t>
            </a:r>
          </a:p>
        </p:txBody>
      </p:sp>
      <p:sp>
        <p:nvSpPr>
          <p:cNvPr id="6" name="">
            <a:extLst xmlns:a="http://schemas.openxmlformats.org/drawingml/2006/main">
              <a:ext uri="{FF2B5EF4-FFF2-40B4-BE49-F238E27FC236}">
                <a16:creationId xmlns:a16="http://schemas.microsoft.com/office/drawing/2014/main" id="{D56659DC-B5BF-4EDE-85DC-59FF591F4B6A}"/>
              </a:ext>
            </a:extLst>
          </p:cNvPr>
          <p:cNvSpPr>
            <a:spLocks xmlns:a="http://schemas.openxmlformats.org/drawingml/2006/main" noGrp="1"/>
          </p:cNvSpPr>
          <p:nvPr/>
        </p:nvSpPr>
        <p:spPr>
          <a:xfrm xmlns:a="http://schemas.openxmlformats.org/drawingml/2006/main">
            <a:off x="6286500" y="3143250"/>
            <a:ext cx="51911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536171"/>
                </a:solidFill>
                <a:latin typeface="Apple SD Gothic Neo"/>
                <a:ea typeface="Apple SD Gothic Neo"/>
                <a:cs typeface="Apple SD Gothic Neo"/>
              </a:defRPr>
            </a:pPr>
            <a:r>
              <a:rPr sz="2475" b="0">
                <a:solidFill>
                  <a:srgbClr val="536171"/>
                </a:solidFill>
                <a:latin typeface="Apple SD Gothic Neo"/>
                <a:ea typeface="Apple SD Gothic Neo"/>
                <a:cs typeface="Apple SD Gothic Neo"/>
              </a:rPr>
              <a:t>이름만 보고 잘못 해석하거나</a:t>
            </a:r>
          </a:p>
          <a:p xmlns:a="http://schemas.openxmlformats.org/drawingml/2006/main">
            <a:pPr algn="l">
              <a:defRPr sz="2475" b="0">
                <a:solidFill>
                  <a:srgbClr val="536171"/>
                </a:solidFill>
                <a:latin typeface="Apple SD Gothic Neo"/>
                <a:ea typeface="Apple SD Gothic Neo"/>
                <a:cs typeface="Apple SD Gothic Neo"/>
              </a:defRPr>
            </a:pPr>
            <a:r>
              <a:rPr sz="2475" b="0">
                <a:solidFill>
                  <a:srgbClr val="536171"/>
                </a:solidFill>
                <a:latin typeface="Apple SD Gothic Neo"/>
                <a:ea typeface="Apple SD Gothic Neo"/>
                <a:cs typeface="Apple SD Gothic Neo"/>
              </a:rPr>
              <a:t>중단된 기능을 구현됐다고</a:t>
            </a:r>
          </a:p>
          <a:p xmlns:a="http://schemas.openxmlformats.org/drawingml/2006/main">
            <a:pPr algn="l">
              <a:defRPr sz="2475" b="0">
                <a:solidFill>
                  <a:srgbClr val="536171"/>
                </a:solidFill>
                <a:latin typeface="Apple SD Gothic Neo"/>
                <a:ea typeface="Apple SD Gothic Neo"/>
                <a:cs typeface="Apple SD Gothic Neo"/>
              </a:defRPr>
            </a:pPr>
            <a:r>
              <a:rPr sz="2475" b="0">
                <a:solidFill>
                  <a:srgbClr val="536171"/>
                </a:solidFill>
                <a:latin typeface="Apple SD Gothic Neo"/>
                <a:ea typeface="Apple SD Gothic Neo"/>
                <a:cs typeface="Apple SD Gothic Neo"/>
              </a:rPr>
              <a:t>분류한 경우도 있었다.</a:t>
            </a:r>
          </a:p>
        </p:txBody>
      </p:sp>
      <p:sp>
        <p:nvSpPr>
          <p:cNvPr id="7" name="">
            <a:extLst xmlns:a="http://schemas.openxmlformats.org/drawingml/2006/main">
              <a:ext uri="{FF2B5EF4-FFF2-40B4-BE49-F238E27FC236}">
                <a16:creationId xmlns:a16="http://schemas.microsoft.com/office/drawing/2014/main" id="{C4EF867A-7040-45E1-ACE1-A46FE45F2188}"/>
              </a:ext>
            </a:extLst>
          </p:cNvPr>
          <p:cNvSpPr>
            <a:spLocks xmlns:a="http://schemas.openxmlformats.org/drawingml/2006/main" noGrp="1"/>
          </p:cNvSpPr>
          <p:nvPr/>
        </p:nvSpPr>
        <p:spPr>
          <a:xfrm xmlns:a="http://schemas.openxmlformats.org/drawingml/2006/main">
            <a:off x="723900" y="60102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171"/>
                </a:solidFill>
                <a:latin typeface="Apple SD Gothic Neo"/>
                <a:ea typeface="Apple SD Gothic Neo"/>
                <a:cs typeface="Apple SD Gothic Neo"/>
              </a:defRPr>
            </a:pPr>
            <a:r>
              <a:rPr sz="1725" b="0">
                <a:solidFill>
                  <a:srgbClr val="536171"/>
                </a:solidFill>
                <a:latin typeface="Apple SD Gothic Neo"/>
                <a:ea typeface="Apple SD Gothic Neo"/>
                <a:cs typeface="Apple SD Gothic Neo"/>
              </a:rPr>
              <a:t>직접 조사했다면 일주일가량 걸렸을 것이라는 당시의 개인적 추정</a:t>
            </a:r>
          </a:p>
        </p:txBody>
      </p:sp>
    </p:spTree>
    <p:extLst>
      <p:ext uri="{BB962C8B-B14F-4D97-AF65-F5344CB8AC3E}">
        <p14:creationId xmlns:p14="http://schemas.microsoft.com/office/powerpoint/2010/main" val="194293748"/>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EE946E-F4FB-45C7-ADBB-9A3D3AC5B685}"/>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백엔드 개발자에게 화면까지 맡겼다</a:t>
            </a:r>
          </a:p>
        </p:txBody>
      </p:sp>
      <p:sp>
        <p:nvSpPr>
          <p:cNvPr id="2" name="">
            <a:extLst xmlns:a="http://schemas.openxmlformats.org/drawingml/2006/main">
              <a:ext uri="{FF2B5EF4-FFF2-40B4-BE49-F238E27FC236}">
                <a16:creationId xmlns:a16="http://schemas.microsoft.com/office/drawing/2014/main" id="{F1E6C224-F87C-44CE-A033-3A72139345BC}"/>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07</a:t>
            </a:r>
          </a:p>
        </p:txBody>
      </p:sp>
      <p:sp>
        <p:nvSpPr>
          <p:cNvPr id="3" name="">
            <a:extLst xmlns:a="http://schemas.openxmlformats.org/drawingml/2006/main">
              <a:ext uri="{FF2B5EF4-FFF2-40B4-BE49-F238E27FC236}">
                <a16:creationId xmlns:a16="http://schemas.microsoft.com/office/drawing/2014/main" id="{9811C5AC-B734-4A4F-9484-E5D4FBA2B1AD}"/>
              </a:ext>
            </a:extLst>
          </p:cNvPr>
          <p:cNvSpPr>
            <a:spLocks xmlns:a="http://schemas.openxmlformats.org/drawingml/2006/main" noGrp="1"/>
          </p:cNvSpPr>
          <p:nvPr/>
        </p:nvSpPr>
        <p:spPr>
          <a:xfrm xmlns:a="http://schemas.openxmlformats.org/drawingml/2006/main">
            <a:off x="723900" y="2095500"/>
            <a:ext cx="4905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92638"/>
                </a:solidFill>
                <a:latin typeface="Apple SD Gothic Neo"/>
                <a:ea typeface="Apple SD Gothic Neo"/>
                <a:cs typeface="Apple SD Gothic Neo"/>
              </a:defRPr>
            </a:pPr>
            <a:r>
              <a:rPr sz="2625" b="1">
                <a:solidFill>
                  <a:srgbClr val="192638"/>
                </a:solidFill>
                <a:latin typeface="Apple SD Gothic Neo"/>
                <a:ea typeface="Apple SD Gothic Neo"/>
                <a:cs typeface="Apple SD Gothic Neo"/>
              </a:rPr>
              <a:t>내가 AI로 만든 백오피스</a:t>
            </a:r>
          </a:p>
        </p:txBody>
      </p:sp>
      <p:sp>
        <p:nvSpPr>
          <p:cNvPr id="4" name="">
            <a:extLst xmlns:a="http://schemas.openxmlformats.org/drawingml/2006/main">
              <a:ext uri="{FF2B5EF4-FFF2-40B4-BE49-F238E27FC236}">
                <a16:creationId xmlns:a16="http://schemas.microsoft.com/office/drawing/2014/main" id="{9463E624-C3F3-466E-B406-64FBAABD454E}"/>
              </a:ext>
            </a:extLst>
          </p:cNvPr>
          <p:cNvSpPr>
            <a:spLocks xmlns:a="http://schemas.openxmlformats.org/drawingml/2006/main" noGrp="1"/>
          </p:cNvSpPr>
          <p:nvPr/>
        </p:nvSpPr>
        <p:spPr>
          <a:xfrm xmlns:a="http://schemas.openxmlformats.org/drawingml/2006/main">
            <a:off x="762000" y="3086100"/>
            <a:ext cx="5048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536171"/>
                </a:solidFill>
                <a:latin typeface="Apple SD Gothic Neo"/>
                <a:ea typeface="Apple SD Gothic Neo"/>
                <a:cs typeface="Apple SD Gothic Neo"/>
              </a:defRPr>
            </a:pPr>
            <a:r>
              <a:rPr sz="2550" b="0">
                <a:solidFill>
                  <a:srgbClr val="536171"/>
                </a:solidFill>
                <a:latin typeface="Apple SD Gothic Neo"/>
                <a:ea typeface="Apple SD Gothic Neo"/>
                <a:cs typeface="Apple SD Gothic Neo"/>
              </a:rPr>
              <a:t>메뉴와 API 문서 전달</a:t>
            </a:r>
          </a:p>
          <a:p xmlns:a="http://schemas.openxmlformats.org/drawingml/2006/main">
            <a:pPr algn="l">
              <a:defRPr sz="2550" b="0">
                <a:solidFill>
                  <a:srgbClr val="536171"/>
                </a:solidFill>
                <a:latin typeface="Apple SD Gothic Neo"/>
                <a:ea typeface="Apple SD Gothic Neo"/>
                <a:cs typeface="Apple SD Gothic Neo"/>
              </a:defRPr>
            </a:pPr>
            <a:r>
              <a:rPr sz="2550" b="0">
                <a:solidFill>
                  <a:srgbClr val="536171"/>
                </a:solidFill>
                <a:latin typeface="Apple SD Gothic Neo"/>
                <a:ea typeface="Apple SD Gothic Neo"/>
                <a:cs typeface="Apple SD Gothic Neo"/>
              </a:rPr>
              <a:t>기본 구조와 주요 화면 구현</a:t>
            </a:r>
          </a:p>
        </p:txBody>
      </p:sp>
      <p:sp>
        <p:nvSpPr>
          <p:cNvPr id="5" name="">
            <a:extLst xmlns:a="http://schemas.openxmlformats.org/drawingml/2006/main">
              <a:ext uri="{FF2B5EF4-FFF2-40B4-BE49-F238E27FC236}">
                <a16:creationId xmlns:a16="http://schemas.microsoft.com/office/drawing/2014/main" id="{76CEC503-C52B-4A76-94B5-3A151AF3F8D9}"/>
              </a:ext>
            </a:extLst>
          </p:cNvPr>
          <p:cNvSpPr>
            <a:spLocks xmlns:a="http://schemas.openxmlformats.org/drawingml/2006/main" noGrp="1"/>
          </p:cNvSpPr>
          <p:nvPr/>
        </p:nvSpPr>
        <p:spPr>
          <a:xfrm xmlns:a="http://schemas.openxmlformats.org/drawingml/2006/main">
            <a:off x="6486525" y="2095500"/>
            <a:ext cx="4905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92638"/>
                </a:solidFill>
                <a:latin typeface="Apple SD Gothic Neo"/>
                <a:ea typeface="Apple SD Gothic Neo"/>
                <a:cs typeface="Apple SD Gothic Neo"/>
              </a:defRPr>
            </a:pPr>
            <a:r>
              <a:rPr sz="2625" b="1">
                <a:solidFill>
                  <a:srgbClr val="192638"/>
                </a:solidFill>
                <a:latin typeface="Apple SD Gothic Neo"/>
                <a:ea typeface="Apple SD Gothic Neo"/>
                <a:cs typeface="Apple SD Gothic Neo"/>
              </a:rPr>
              <a:t>한 사람이 화면과 API를 함께</a:t>
            </a:r>
          </a:p>
        </p:txBody>
      </p:sp>
      <p:sp>
        <p:nvSpPr>
          <p:cNvPr id="6" name="">
            <a:extLst xmlns:a="http://schemas.openxmlformats.org/drawingml/2006/main">
              <a:ext uri="{FF2B5EF4-FFF2-40B4-BE49-F238E27FC236}">
                <a16:creationId xmlns:a16="http://schemas.microsoft.com/office/drawing/2014/main" id="{E9B04702-CE72-411B-B993-1404F65AE051}"/>
              </a:ext>
            </a:extLst>
          </p:cNvPr>
          <p:cNvSpPr>
            <a:spLocks xmlns:a="http://schemas.openxmlformats.org/drawingml/2006/main" noGrp="1"/>
          </p:cNvSpPr>
          <p:nvPr/>
        </p:nvSpPr>
        <p:spPr>
          <a:xfrm xmlns:a="http://schemas.openxmlformats.org/drawingml/2006/main">
            <a:off x="6496050" y="3086100"/>
            <a:ext cx="49053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536171"/>
                </a:solidFill>
                <a:latin typeface="Apple SD Gothic Neo"/>
                <a:ea typeface="Apple SD Gothic Neo"/>
                <a:cs typeface="Apple SD Gothic Neo"/>
              </a:defRPr>
            </a:pPr>
            <a:r>
              <a:rPr sz="2475" b="0">
                <a:solidFill>
                  <a:srgbClr val="536171"/>
                </a:solidFill>
                <a:latin typeface="Apple SD Gothic Neo"/>
                <a:ea typeface="Apple SD Gothic Neo"/>
                <a:cs typeface="Apple SD Gothic Neo"/>
              </a:rPr>
              <a:t>설명과 수정 대기 시간을 줄이고</a:t>
            </a:r>
          </a:p>
          <a:p xmlns:a="http://schemas.openxmlformats.org/drawingml/2006/main">
            <a:pPr algn="l">
              <a:defRPr sz="2475" b="0">
                <a:solidFill>
                  <a:srgbClr val="536171"/>
                </a:solidFill>
                <a:latin typeface="Apple SD Gothic Neo"/>
                <a:ea typeface="Apple SD Gothic Neo"/>
                <a:cs typeface="Apple SD Gothic Neo"/>
              </a:defRPr>
            </a:pPr>
            <a:r>
              <a:rPr sz="2475" b="0">
                <a:solidFill>
                  <a:srgbClr val="536171"/>
                </a:solidFill>
                <a:latin typeface="Apple SD Gothic Neo"/>
                <a:ea typeface="Apple SD Gothic Neo"/>
                <a:cs typeface="Apple SD Gothic Neo"/>
              </a:rPr>
              <a:t>백엔드 담당자에게 화면도 위임</a:t>
            </a:r>
          </a:p>
        </p:txBody>
      </p:sp>
      <p:sp>
        <p:nvSpPr>
          <p:cNvPr id="7" name="">
            <a:extLst xmlns:a="http://schemas.openxmlformats.org/drawingml/2006/main">
              <a:ext uri="{FF2B5EF4-FFF2-40B4-BE49-F238E27FC236}">
                <a16:creationId xmlns:a16="http://schemas.microsoft.com/office/drawing/2014/main" id="{F8EB9533-282E-4197-B847-7CD4C263C883}"/>
              </a:ext>
            </a:extLst>
          </p:cNvPr>
          <p:cNvSpPr>
            <a:spLocks xmlns:a="http://schemas.openxmlformats.org/drawingml/2006/main" noGrp="1"/>
          </p:cNvSpPr>
          <p:nvPr/>
        </p:nvSpPr>
        <p:spPr>
          <a:xfrm xmlns:a="http://schemas.openxmlformats.org/drawingml/2006/main">
            <a:off x="723900" y="60102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171"/>
                </a:solidFill>
                <a:latin typeface="Apple SD Gothic Neo"/>
                <a:ea typeface="Apple SD Gothic Neo"/>
                <a:cs typeface="Apple SD Gothic Neo"/>
              </a:defRPr>
            </a:pPr>
            <a:r>
              <a:rPr sz="1725" b="0">
                <a:solidFill>
                  <a:srgbClr val="536171"/>
                </a:solidFill>
                <a:latin typeface="Apple SD Gothic Neo"/>
                <a:ea typeface="Apple SD Gothic Neo"/>
                <a:cs typeface="Apple SD Gothic Neo"/>
              </a:rPr>
              <a:t>AI로 구현 부담이 줄자, 내가 나누던 업무 범위도 달라졌다.</a:t>
            </a:r>
          </a:p>
        </p:txBody>
      </p:sp>
    </p:spTree>
    <p:extLst>
      <p:ext uri="{BB962C8B-B14F-4D97-AF65-F5344CB8AC3E}">
        <p14:creationId xmlns:p14="http://schemas.microsoft.com/office/powerpoint/2010/main" val="447767068"/>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76F7A3-8093-4D80-BC16-69873BF08768}"/>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동작하는 앱을 보며 요구사항을 정했다</a:t>
            </a:r>
          </a:p>
        </p:txBody>
      </p:sp>
      <p:sp>
        <p:nvSpPr>
          <p:cNvPr id="2" name="">
            <a:extLst xmlns:a="http://schemas.openxmlformats.org/drawingml/2006/main">
              <a:ext uri="{FF2B5EF4-FFF2-40B4-BE49-F238E27FC236}">
                <a16:creationId xmlns:a16="http://schemas.microsoft.com/office/drawing/2014/main" id="{D9A00D71-7CC0-4B5A-AD59-FECF7BFE9EA9}"/>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08</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133f182b7684fe2"/>
          <a:stretch xmlns:a="http://schemas.openxmlformats.org/drawingml/2006/main"/>
        </p:blipFill>
        <p:spPr>
          <a:xfrm xmlns:a="http://schemas.openxmlformats.org/drawingml/2006/main">
            <a:off x="798040" y="1933575"/>
            <a:ext cx="4757095" cy="4238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49C7940-AD7A-4366-9E3F-385928154CEB}"/>
              </a:ext>
            </a:extLst>
          </p:cNvPr>
          <p:cNvSpPr>
            <a:spLocks xmlns:a="http://schemas.openxmlformats.org/drawingml/2006/main" noGrp="1"/>
          </p:cNvSpPr>
          <p:nvPr/>
        </p:nvSpPr>
        <p:spPr>
          <a:xfrm xmlns:a="http://schemas.openxmlformats.org/drawingml/2006/main">
            <a:off x="6143625" y="2076450"/>
            <a:ext cx="523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536171"/>
                </a:solidFill>
                <a:latin typeface="Apple SD Gothic Neo"/>
                <a:ea typeface="Apple SD Gothic Neo"/>
                <a:cs typeface="Apple SD Gothic Neo"/>
              </a:defRPr>
            </a:pPr>
            <a:r>
              <a:rPr sz="2625" b="0">
                <a:solidFill>
                  <a:srgbClr val="536171"/>
                </a:solidFill>
                <a:latin typeface="Apple SD Gothic Neo"/>
                <a:ea typeface="Apple SD Gothic Neo"/>
                <a:cs typeface="Apple SD Gothic Neo"/>
              </a:rPr>
              <a:t>시안을 그대로 옮기다가</a:t>
            </a:r>
          </a:p>
        </p:txBody>
      </p:sp>
      <p:sp>
        <p:nvSpPr>
          <p:cNvPr id="5" name="">
            <a:extLst xmlns:a="http://schemas.openxmlformats.org/drawingml/2006/main">
              <a:ext uri="{FF2B5EF4-FFF2-40B4-BE49-F238E27FC236}">
                <a16:creationId xmlns:a16="http://schemas.microsoft.com/office/drawing/2014/main" id="{EFFC9C8C-5D42-419E-AF99-004D27EDFB06}"/>
              </a:ext>
            </a:extLst>
          </p:cNvPr>
          <p:cNvSpPr>
            <a:spLocks xmlns:a="http://schemas.openxmlformats.org/drawingml/2006/main" noGrp="1"/>
          </p:cNvSpPr>
          <p:nvPr/>
        </p:nvSpPr>
        <p:spPr>
          <a:xfrm xmlns:a="http://schemas.openxmlformats.org/drawingml/2006/main">
            <a:off x="6134100" y="3028950"/>
            <a:ext cx="52197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92638"/>
                </a:solidFill>
                <a:latin typeface="Apple SD Gothic Neo"/>
                <a:ea typeface="Apple SD Gothic Neo"/>
                <a:cs typeface="Apple SD Gothic Neo"/>
              </a:defRPr>
            </a:pPr>
            <a:r>
              <a:rPr sz="3150" b="1">
                <a:solidFill>
                  <a:srgbClr val="192638"/>
                </a:solidFill>
                <a:latin typeface="Apple SD Gothic Neo"/>
                <a:ea typeface="Apple SD Gothic Neo"/>
                <a:cs typeface="Apple SD Gothic Neo"/>
              </a:rPr>
              <a:t>필요한 기능을 설명해</a:t>
            </a:r>
          </a:p>
          <a:p xmlns:a="http://schemas.openxmlformats.org/drawingml/2006/main">
            <a:pPr algn="l">
              <a:defRPr sz="3150" b="1">
                <a:solidFill>
                  <a:srgbClr val="192638"/>
                </a:solidFill>
                <a:latin typeface="Apple SD Gothic Neo"/>
                <a:ea typeface="Apple SD Gothic Neo"/>
                <a:cs typeface="Apple SD Gothic Neo"/>
              </a:defRPr>
            </a:pPr>
            <a:r>
              <a:rPr sz="3150" b="1">
                <a:solidFill>
                  <a:srgbClr val="192638"/>
                </a:solidFill>
                <a:latin typeface="Apple SD Gothic Neo"/>
                <a:ea typeface="Apple SD Gothic Neo"/>
                <a:cs typeface="Apple SD Gothic Neo"/>
              </a:rPr>
              <a:t>동작하는 초안을 만들었다</a:t>
            </a:r>
          </a:p>
        </p:txBody>
      </p:sp>
      <p:sp>
        <p:nvSpPr>
          <p:cNvPr id="6" name="">
            <a:extLst xmlns:a="http://schemas.openxmlformats.org/drawingml/2006/main">
              <a:ext uri="{FF2B5EF4-FFF2-40B4-BE49-F238E27FC236}">
                <a16:creationId xmlns:a16="http://schemas.microsoft.com/office/drawing/2014/main" id="{3FFE5585-B2C1-4B16-A38D-B43B15B78E4A}"/>
              </a:ext>
            </a:extLst>
          </p:cNvPr>
          <p:cNvSpPr>
            <a:spLocks xmlns:a="http://schemas.openxmlformats.org/drawingml/2006/main" noGrp="1"/>
          </p:cNvSpPr>
          <p:nvPr/>
        </p:nvSpPr>
        <p:spPr>
          <a:xfrm xmlns:a="http://schemas.openxmlformats.org/drawingml/2006/main">
            <a:off x="6153150" y="4857750"/>
            <a:ext cx="5143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536171"/>
                </a:solidFill>
                <a:latin typeface="Apple SD Gothic Neo"/>
                <a:ea typeface="Apple SD Gothic Neo"/>
                <a:cs typeface="Apple SD Gothic Neo"/>
              </a:defRPr>
            </a:pPr>
            <a:r>
              <a:rPr sz="2475" b="0">
                <a:solidFill>
                  <a:srgbClr val="536171"/>
                </a:solidFill>
                <a:latin typeface="Apple SD Gothic Neo"/>
                <a:ea typeface="Apple SD Gothic Neo"/>
                <a:cs typeface="Apple SD Gothic Neo"/>
              </a:rPr>
              <a:t>대표와 앱을 함께 보며</a:t>
            </a:r>
          </a:p>
          <a:p xmlns:a="http://schemas.openxmlformats.org/drawingml/2006/main">
            <a:pPr algn="l">
              <a:defRPr sz="2475" b="0">
                <a:solidFill>
                  <a:srgbClr val="536171"/>
                </a:solidFill>
                <a:latin typeface="Apple SD Gothic Neo"/>
                <a:ea typeface="Apple SD Gothic Neo"/>
                <a:cs typeface="Apple SD Gothic Neo"/>
              </a:defRPr>
            </a:pPr>
            <a:r>
              <a:rPr sz="2475" b="0">
                <a:solidFill>
                  <a:srgbClr val="536171"/>
                </a:solidFill>
                <a:latin typeface="Apple SD Gothic Neo"/>
                <a:ea typeface="Apple SD Gothic Neo"/>
                <a:cs typeface="Apple SD Gothic Neo"/>
              </a:rPr>
              <a:t>그 자리에서 수정하고 확인</a:t>
            </a:r>
          </a:p>
        </p:txBody>
      </p:sp>
    </p:spTree>
    <p:extLst>
      <p:ext uri="{BB962C8B-B14F-4D97-AF65-F5344CB8AC3E}">
        <p14:creationId xmlns:p14="http://schemas.microsoft.com/office/powerpoint/2010/main" val="1649393894"/>
      </p:ext>
    </p:extLst>
  </p:cSld>
</p:sld>
</file>

<file path=ppt/slides/slide9.xml><?xml version="1.0" encoding="utf-8"?>
<p:sld xmlns:p="http://schemas.openxmlformats.org/presentationml/2006/main">
  <p:cSld>
    <p:bg>
      <p:bgPr>
        <a:solidFill xmlns:a="http://schemas.openxmlformats.org/drawingml/2006/main">
          <a:srgbClr val="14233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EB7C84-D60F-4855-AD51-AAA2290F7734}"/>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성공이 쌓이자 맡기는 작업도 커졌다</a:t>
            </a:r>
          </a:p>
        </p:txBody>
      </p:sp>
      <p:sp>
        <p:nvSpPr>
          <p:cNvPr id="2" name="">
            <a:extLst xmlns:a="http://schemas.openxmlformats.org/drawingml/2006/main">
              <a:ext uri="{FF2B5EF4-FFF2-40B4-BE49-F238E27FC236}">
                <a16:creationId xmlns:a16="http://schemas.microsoft.com/office/drawing/2014/main" id="{159B5109-F42C-4609-B5BE-2A46105025B1}"/>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BC8D0"/>
                </a:solidFill>
                <a:latin typeface="Apple SD Gothic Neo"/>
                <a:ea typeface="Apple SD Gothic Neo"/>
                <a:cs typeface="Apple SD Gothic Neo"/>
              </a:defRPr>
            </a:pPr>
            <a:r>
              <a:rPr sz="1425" b="0">
                <a:solidFill>
                  <a:srgbClr val="BBC8D0"/>
                </a:solidFill>
                <a:latin typeface="Apple SD Gothic Neo"/>
                <a:ea typeface="Apple SD Gothic Neo"/>
                <a:cs typeface="Apple SD Gothic Neo"/>
              </a:rPr>
              <a:t>09</a:t>
            </a:r>
          </a:p>
        </p:txBody>
      </p:sp>
      <p:sp>
        <p:nvSpPr>
          <p:cNvPr id="3" name="">
            <a:extLst xmlns:a="http://schemas.openxmlformats.org/drawingml/2006/main">
              <a:ext uri="{FF2B5EF4-FFF2-40B4-BE49-F238E27FC236}">
                <a16:creationId xmlns:a16="http://schemas.microsoft.com/office/drawing/2014/main" id="{41797160-5B60-435E-8F72-F84D8D3850A4}"/>
              </a:ext>
            </a:extLst>
          </p:cNvPr>
          <p:cNvSpPr>
            <a:spLocks xmlns:a="http://schemas.openxmlformats.org/drawingml/2006/main" noGrp="1"/>
          </p:cNvSpPr>
          <p:nvPr/>
        </p:nvSpPr>
        <p:spPr>
          <a:xfrm xmlns:a="http://schemas.openxmlformats.org/drawingml/2006/main">
            <a:off x="723900" y="20955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FFFFFF"/>
                </a:solidFill>
                <a:latin typeface="Apple SD Gothic Neo"/>
                <a:ea typeface="Apple SD Gothic Neo"/>
                <a:cs typeface="Apple SD Gothic Neo"/>
              </a:defRPr>
            </a:pPr>
            <a:r>
              <a:rPr sz="5700" b="1">
                <a:solidFill>
                  <a:srgbClr val="FFFFFF"/>
                </a:solidFill>
                <a:latin typeface="Apple SD Gothic Neo"/>
                <a:ea typeface="Apple SD Gothic Neo"/>
                <a:cs typeface="Apple SD Gothic Neo"/>
              </a:rPr>
              <a:t>“이게 되네?”</a:t>
            </a:r>
          </a:p>
        </p:txBody>
      </p:sp>
      <p:sp>
        <p:nvSpPr>
          <p:cNvPr id="4" name="">
            <a:extLst xmlns:a="http://schemas.openxmlformats.org/drawingml/2006/main">
              <a:ext uri="{FF2B5EF4-FFF2-40B4-BE49-F238E27FC236}">
                <a16:creationId xmlns:a16="http://schemas.microsoft.com/office/drawing/2014/main" id="{8B3744A5-C71F-471B-8DD3-71BF9B0E1C8D}"/>
              </a:ext>
            </a:extLst>
          </p:cNvPr>
          <p:cNvSpPr>
            <a:spLocks xmlns:a="http://schemas.openxmlformats.org/drawingml/2006/main" noGrp="1"/>
          </p:cNvSpPr>
          <p:nvPr/>
        </p:nvSpPr>
        <p:spPr>
          <a:xfrm xmlns:a="http://schemas.openxmlformats.org/drawingml/2006/main">
            <a:off x="781050" y="33528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BBC8D0"/>
                </a:solidFill>
                <a:latin typeface="Apple SD Gothic Neo"/>
                <a:ea typeface="Apple SD Gothic Neo"/>
                <a:cs typeface="Apple SD Gothic Neo"/>
              </a:defRPr>
            </a:pPr>
            <a:r>
              <a:rPr sz="2775" b="0">
                <a:solidFill>
                  <a:srgbClr val="BBC8D0"/>
                </a:solidFill>
                <a:latin typeface="Apple SD Gothic Neo"/>
                <a:ea typeface="Apple SD Gothic Neo"/>
                <a:cs typeface="Apple SD Gothic Neo"/>
              </a:rPr>
              <a:t>직접 검증하며 쌓인 성공 경험</a:t>
            </a:r>
          </a:p>
        </p:txBody>
      </p:sp>
      <p:sp>
        <p:nvSpPr>
          <p:cNvPr id="5" name="">
            <a:extLst xmlns:a="http://schemas.openxmlformats.org/drawingml/2006/main">
              <a:ext uri="{FF2B5EF4-FFF2-40B4-BE49-F238E27FC236}">
                <a16:creationId xmlns:a16="http://schemas.microsoft.com/office/drawing/2014/main" id="{2DEB4EA7-5267-44DB-A793-B44336471589}"/>
              </a:ext>
            </a:extLst>
          </p:cNvPr>
          <p:cNvSpPr>
            <a:spLocks xmlns:a="http://schemas.openxmlformats.org/drawingml/2006/main" noGrp="1"/>
          </p:cNvSpPr>
          <p:nvPr/>
        </p:nvSpPr>
        <p:spPr>
          <a:xfrm xmlns:a="http://schemas.openxmlformats.org/drawingml/2006/main">
            <a:off x="781050" y="4286250"/>
            <a:ext cx="103822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FFFFFF"/>
                </a:solidFill>
                <a:latin typeface="Apple SD Gothic Neo"/>
                <a:ea typeface="Apple SD Gothic Neo"/>
                <a:cs typeface="Apple SD Gothic Neo"/>
              </a:defRPr>
            </a:pPr>
            <a:r>
              <a:rPr sz="2925" b="0">
                <a:solidFill>
                  <a:srgbClr val="FFFFFF"/>
                </a:solidFill>
                <a:latin typeface="Apple SD Gothic Neo"/>
                <a:ea typeface="Apple SD Gothic Neo"/>
                <a:cs typeface="Apple SD Gothic Neo"/>
              </a:rPr>
              <a:t>큰 작업을 연속으로 맡기면서</a:t>
            </a:r>
          </a:p>
          <a:p xmlns:a="http://schemas.openxmlformats.org/drawingml/2006/main">
            <a:pPr algn="l">
              <a:defRPr sz="2925" b="0">
                <a:solidFill>
                  <a:srgbClr val="FFFFFF"/>
                </a:solidFill>
                <a:latin typeface="Apple SD Gothic Neo"/>
                <a:ea typeface="Apple SD Gothic Neo"/>
                <a:cs typeface="Apple SD Gothic Neo"/>
              </a:defRPr>
            </a:pPr>
            <a:r>
              <a:rPr sz="2925" b="0">
                <a:solidFill>
                  <a:srgbClr val="FFFFFF"/>
                </a:solidFill>
                <a:latin typeface="Apple SD Gothic Neo"/>
                <a:ea typeface="Apple SD Gothic Neo"/>
                <a:cs typeface="Apple SD Gothic Neo"/>
              </a:rPr>
              <a:t>중간 결과를 확인하는 간격도 벌어졌다.</a:t>
            </a:r>
          </a:p>
        </p:txBody>
      </p:sp>
    </p:spTree>
    <p:extLst>
      <p:ext uri="{BB962C8B-B14F-4D97-AF65-F5344CB8AC3E}">
        <p14:creationId xmlns:p14="http://schemas.microsoft.com/office/powerpoint/2010/main" val="1058008463"/>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0DC0E5-9B8C-4592-855B-E05505B182F9}"/>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검색 화면은 있었지만 검색할 수 없었다</a:t>
            </a:r>
          </a:p>
        </p:txBody>
      </p:sp>
      <p:sp>
        <p:nvSpPr>
          <p:cNvPr id="2" name="">
            <a:extLst xmlns:a="http://schemas.openxmlformats.org/drawingml/2006/main">
              <a:ext uri="{FF2B5EF4-FFF2-40B4-BE49-F238E27FC236}">
                <a16:creationId xmlns:a16="http://schemas.microsoft.com/office/drawing/2014/main" id="{E379198C-80C8-430A-8F46-B49316313239}"/>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10</a:t>
            </a:r>
          </a:p>
        </p:txBody>
      </p:sp>
      <p:sp>
        <p:nvSpPr>
          <p:cNvPr id="3" name="">
            <a:extLst xmlns:a="http://schemas.openxmlformats.org/drawingml/2006/main">
              <a:ext uri="{FF2B5EF4-FFF2-40B4-BE49-F238E27FC236}">
                <a16:creationId xmlns:a16="http://schemas.microsoft.com/office/drawing/2014/main" id="{B99D69D1-ED9B-4B3C-96C1-DB1FE0095720}"/>
              </a:ext>
            </a:extLst>
          </p:cNvPr>
          <p:cNvSpPr>
            <a:spLocks xmlns:a="http://schemas.openxmlformats.org/drawingml/2006/main" noGrp="1"/>
          </p:cNvSpPr>
          <p:nvPr/>
        </p:nvSpPr>
        <p:spPr>
          <a:xfrm xmlns:a="http://schemas.openxmlformats.org/drawingml/2006/main">
            <a:off x="742950" y="2124075"/>
            <a:ext cx="4810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36171"/>
                </a:solidFill>
                <a:latin typeface="Apple SD Gothic Neo"/>
                <a:ea typeface="Apple SD Gothic Neo"/>
                <a:cs typeface="Apple SD Gothic Neo"/>
              </a:defRPr>
            </a:pPr>
            <a:r>
              <a:rPr sz="2250" b="0">
                <a:solidFill>
                  <a:srgbClr val="536171"/>
                </a:solidFill>
                <a:latin typeface="Apple SD Gothic Neo"/>
                <a:ea typeface="Apple SD Gothic Neo"/>
                <a:cs typeface="Apple SD Gothic Neo"/>
              </a:rPr>
              <a:t>검색 화면</a:t>
            </a:r>
          </a:p>
        </p:txBody>
      </p:sp>
      <p:sp>
        <p:nvSpPr>
          <p:cNvPr id="4" name="">
            <a:extLst xmlns:a="http://schemas.openxmlformats.org/drawingml/2006/main">
              <a:ext uri="{FF2B5EF4-FFF2-40B4-BE49-F238E27FC236}">
                <a16:creationId xmlns:a16="http://schemas.microsoft.com/office/drawing/2014/main" id="{8C2E0A26-0C25-4899-8C73-101B3E6FFFF0}"/>
              </a:ext>
            </a:extLst>
          </p:cNvPr>
          <p:cNvSpPr>
            <a:spLocks xmlns:a="http://schemas.openxmlformats.org/drawingml/2006/main" noGrp="1"/>
          </p:cNvSpPr>
          <p:nvPr/>
        </p:nvSpPr>
        <p:spPr>
          <a:xfrm xmlns:a="http://schemas.openxmlformats.org/drawingml/2006/main">
            <a:off x="723900" y="2905125"/>
            <a:ext cx="504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92638"/>
                </a:solidFill>
                <a:latin typeface="Apple SD Gothic Neo"/>
                <a:ea typeface="Apple SD Gothic Neo"/>
                <a:cs typeface="Apple SD Gothic Neo"/>
              </a:defRPr>
            </a:pPr>
            <a:r>
              <a:rPr sz="4050" b="1">
                <a:solidFill>
                  <a:srgbClr val="192638"/>
                </a:solidFill>
                <a:latin typeface="Apple SD Gothic Neo"/>
                <a:ea typeface="Apple SD Gothic Neo"/>
                <a:cs typeface="Apple SD Gothic Neo"/>
              </a:rPr>
              <a:t>카드번호로</a:t>
            </a:r>
          </a:p>
          <a:p xmlns:a="http://schemas.openxmlformats.org/drawingml/2006/main">
            <a:pPr algn="l">
              <a:defRPr sz="4050" b="1">
                <a:solidFill>
                  <a:srgbClr val="192638"/>
                </a:solidFill>
                <a:latin typeface="Apple SD Gothic Neo"/>
                <a:ea typeface="Apple SD Gothic Neo"/>
                <a:cs typeface="Apple SD Gothic Neo"/>
              </a:defRPr>
            </a:pPr>
            <a:r>
              <a:rPr sz="4050" b="1">
                <a:solidFill>
                  <a:srgbClr val="192638"/>
                </a:solidFill>
                <a:latin typeface="Apple SD Gothic Neo"/>
                <a:ea typeface="Apple SD Gothic Neo"/>
                <a:cs typeface="Apple SD Gothic Neo"/>
              </a:rPr>
              <a:t>결제 기록 검색</a:t>
            </a:r>
          </a:p>
        </p:txBody>
      </p:sp>
      <p:sp>
        <p:nvSpPr>
          <p:cNvPr id="5" name="">
            <a:extLst xmlns:a="http://schemas.openxmlformats.org/drawingml/2006/main">
              <a:ext uri="{FF2B5EF4-FFF2-40B4-BE49-F238E27FC236}">
                <a16:creationId xmlns:a16="http://schemas.microsoft.com/office/drawing/2014/main" id="{306A1A01-1314-47E9-972B-70E1CC6787AA}"/>
              </a:ext>
            </a:extLst>
          </p:cNvPr>
          <p:cNvSpPr>
            <a:spLocks xmlns:a="http://schemas.openxmlformats.org/drawingml/2006/main" noGrp="1"/>
          </p:cNvSpPr>
          <p:nvPr/>
        </p:nvSpPr>
        <p:spPr>
          <a:xfrm xmlns:a="http://schemas.openxmlformats.org/drawingml/2006/main">
            <a:off x="6457950" y="2124075"/>
            <a:ext cx="4810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36171"/>
                </a:solidFill>
                <a:latin typeface="Apple SD Gothic Neo"/>
                <a:ea typeface="Apple SD Gothic Neo"/>
                <a:cs typeface="Apple SD Gothic Neo"/>
              </a:defRPr>
            </a:pPr>
            <a:r>
              <a:rPr sz="2250" b="0">
                <a:solidFill>
                  <a:srgbClr val="536171"/>
                </a:solidFill>
                <a:latin typeface="Apple SD Gothic Neo"/>
                <a:ea typeface="Apple SD Gothic Neo"/>
                <a:cs typeface="Apple SD Gothic Neo"/>
              </a:rPr>
              <a:t>저장된 데이터</a:t>
            </a:r>
          </a:p>
        </p:txBody>
      </p:sp>
      <p:sp>
        <p:nvSpPr>
          <p:cNvPr id="6" name="">
            <a:extLst xmlns:a="http://schemas.openxmlformats.org/drawingml/2006/main">
              <a:ext uri="{FF2B5EF4-FFF2-40B4-BE49-F238E27FC236}">
                <a16:creationId xmlns:a16="http://schemas.microsoft.com/office/drawing/2014/main" id="{862E55BF-F71D-44ED-8631-877770DB58E2}"/>
              </a:ext>
            </a:extLst>
          </p:cNvPr>
          <p:cNvSpPr>
            <a:spLocks xmlns:a="http://schemas.openxmlformats.org/drawingml/2006/main" noGrp="1"/>
          </p:cNvSpPr>
          <p:nvPr/>
        </p:nvSpPr>
        <p:spPr>
          <a:xfrm xmlns:a="http://schemas.openxmlformats.org/drawingml/2006/main">
            <a:off x="6438900" y="2905125"/>
            <a:ext cx="504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C7542C"/>
                </a:solidFill>
                <a:latin typeface="Apple SD Gothic Neo"/>
                <a:ea typeface="Apple SD Gothic Neo"/>
                <a:cs typeface="Apple SD Gothic Neo"/>
              </a:defRPr>
            </a:pPr>
            <a:r>
              <a:rPr sz="4050" b="1">
                <a:solidFill>
                  <a:srgbClr val="C7542C"/>
                </a:solidFill>
                <a:latin typeface="Apple SD Gothic Neo"/>
                <a:ea typeface="Apple SD Gothic Neo"/>
                <a:cs typeface="Apple SD Gothic Neo"/>
              </a:rPr>
              <a:t>카드번호를</a:t>
            </a:r>
          </a:p>
          <a:p xmlns:a="http://schemas.openxmlformats.org/drawingml/2006/main">
            <a:pPr algn="l">
              <a:defRPr sz="4050" b="1">
                <a:solidFill>
                  <a:srgbClr val="C7542C"/>
                </a:solidFill>
                <a:latin typeface="Apple SD Gothic Neo"/>
                <a:ea typeface="Apple SD Gothic Neo"/>
                <a:cs typeface="Apple SD Gothic Neo"/>
              </a:defRPr>
            </a:pPr>
            <a:r>
              <a:rPr sz="4050" b="1">
                <a:solidFill>
                  <a:srgbClr val="C7542C"/>
                </a:solidFill>
                <a:latin typeface="Apple SD Gothic Neo"/>
                <a:ea typeface="Apple SD Gothic Neo"/>
                <a:cs typeface="Apple SD Gothic Neo"/>
              </a:rPr>
              <a:t>모두 마스킹해 저장</a:t>
            </a:r>
          </a:p>
        </p:txBody>
      </p:sp>
      <p:sp>
        <p:nvSpPr>
          <p:cNvPr id="7" name="">
            <a:extLst xmlns:a="http://schemas.openxmlformats.org/drawingml/2006/main">
              <a:ext uri="{FF2B5EF4-FFF2-40B4-BE49-F238E27FC236}">
                <a16:creationId xmlns:a16="http://schemas.microsoft.com/office/drawing/2014/main" id="{5C024581-4534-4954-B415-E1859A2308DA}"/>
              </a:ext>
            </a:extLst>
          </p:cNvPr>
          <p:cNvSpPr>
            <a:spLocks xmlns:a="http://schemas.openxmlformats.org/drawingml/2006/main" noGrp="1"/>
          </p:cNvSpPr>
          <p:nvPr/>
        </p:nvSpPr>
        <p:spPr>
          <a:xfrm xmlns:a="http://schemas.openxmlformats.org/drawingml/2006/main">
            <a:off x="723900" y="60102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171"/>
                </a:solidFill>
                <a:latin typeface="Apple SD Gothic Neo"/>
                <a:ea typeface="Apple SD Gothic Neo"/>
                <a:cs typeface="Apple SD Gothic Neo"/>
              </a:defRPr>
            </a:pPr>
            <a:r>
              <a:rPr sz="1725" b="0">
                <a:solidFill>
                  <a:srgbClr val="536171"/>
                </a:solidFill>
                <a:latin typeface="Apple SD Gothic Neo"/>
                <a:ea typeface="Apple SD Gothic Neo"/>
                <a:cs typeface="Apple SD Gothic Neo"/>
              </a:rPr>
              <a:t>요청한 검색이 성립하지 않았는데도, AI는 테스트가 정상이라고 보고했다.</a:t>
            </a:r>
          </a:p>
        </p:txBody>
      </p:sp>
    </p:spTree>
    <p:extLst>
      <p:ext uri="{BB962C8B-B14F-4D97-AF65-F5344CB8AC3E}">
        <p14:creationId xmlns:p14="http://schemas.microsoft.com/office/powerpoint/2010/main" val="2084477250"/>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9C769B-F116-4CAA-9EAE-936B8C0EA621}"/>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검증 없는 완료 보고가 반복됐다</a:t>
            </a:r>
          </a:p>
        </p:txBody>
      </p:sp>
      <p:sp>
        <p:nvSpPr>
          <p:cNvPr id="2" name="">
            <a:extLst xmlns:a="http://schemas.openxmlformats.org/drawingml/2006/main">
              <a:ext uri="{FF2B5EF4-FFF2-40B4-BE49-F238E27FC236}">
                <a16:creationId xmlns:a16="http://schemas.microsoft.com/office/drawing/2014/main" id="{A5BCCC5F-5A2A-4079-8BFD-E6CC82D65F30}"/>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11</a:t>
            </a:r>
          </a:p>
        </p:txBody>
      </p:sp>
      <p:sp>
        <p:nvSpPr>
          <p:cNvPr id="3" name="">
            <a:extLst xmlns:a="http://schemas.openxmlformats.org/drawingml/2006/main">
              <a:ext uri="{FF2B5EF4-FFF2-40B4-BE49-F238E27FC236}">
                <a16:creationId xmlns:a16="http://schemas.microsoft.com/office/drawing/2014/main" id="{DCDBDB38-5F6A-414A-8386-E1D48EE5DA07}"/>
              </a:ext>
            </a:extLst>
          </p:cNvPr>
          <p:cNvSpPr>
            <a:spLocks xmlns:a="http://schemas.openxmlformats.org/drawingml/2006/main" noGrp="1"/>
          </p:cNvSpPr>
          <p:nvPr/>
        </p:nvSpPr>
        <p:spPr>
          <a:xfrm xmlns:a="http://schemas.openxmlformats.org/drawingml/2006/main">
            <a:off x="723900" y="212407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C7542C"/>
                </a:solidFill>
                <a:latin typeface="Apple SD Gothic Neo"/>
                <a:ea typeface="Apple SD Gothic Neo"/>
                <a:cs typeface="Apple SD Gothic Neo"/>
              </a:defRPr>
            </a:pPr>
            <a:r>
              <a:rPr sz="3000" b="1">
                <a:solidFill>
                  <a:srgbClr val="C7542C"/>
                </a:solidFill>
                <a:latin typeface="Apple SD Gothic Neo"/>
                <a:ea typeface="Apple SD Gothic Neo"/>
                <a:cs typeface="Apple SD Gothic Neo"/>
              </a:rPr>
              <a:t>반복된 오류와 수정 요청</a:t>
            </a:r>
          </a:p>
        </p:txBody>
      </p:sp>
      <p:sp>
        <p:nvSpPr>
          <p:cNvPr id="4" name="">
            <a:extLst xmlns:a="http://schemas.openxmlformats.org/drawingml/2006/main">
              <a:ext uri="{FF2B5EF4-FFF2-40B4-BE49-F238E27FC236}">
                <a16:creationId xmlns:a16="http://schemas.microsoft.com/office/drawing/2014/main" id="{85B6BAF0-0CF6-4860-8B70-8C743408036F}"/>
              </a:ext>
            </a:extLst>
          </p:cNvPr>
          <p:cNvSpPr>
            <a:spLocks xmlns:a="http://schemas.openxmlformats.org/drawingml/2006/main" noGrp="1"/>
          </p:cNvSpPr>
          <p:nvPr/>
        </p:nvSpPr>
        <p:spPr>
          <a:xfrm xmlns:a="http://schemas.openxmlformats.org/drawingml/2006/main">
            <a:off x="771525" y="32004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92638"/>
                </a:solidFill>
                <a:latin typeface="Apple SD Gothic Neo"/>
                <a:ea typeface="Apple SD Gothic Neo"/>
                <a:cs typeface="Apple SD Gothic Neo"/>
              </a:defRPr>
            </a:pPr>
            <a:r>
              <a:rPr sz="2850" b="0">
                <a:solidFill>
                  <a:srgbClr val="192638"/>
                </a:solidFill>
                <a:latin typeface="Apple SD Gothic Neo"/>
                <a:ea typeface="Apple SD Gothic Neo"/>
                <a:cs typeface="Apple SD Gothic Neo"/>
              </a:rPr>
              <a:t>AI의 완료 보고를 그대로 전달</a:t>
            </a:r>
          </a:p>
        </p:txBody>
      </p:sp>
      <p:sp>
        <p:nvSpPr>
          <p:cNvPr id="5" name="">
            <a:extLst xmlns:a="http://schemas.openxmlformats.org/drawingml/2006/main">
              <a:ext uri="{FF2B5EF4-FFF2-40B4-BE49-F238E27FC236}">
                <a16:creationId xmlns:a16="http://schemas.microsoft.com/office/drawing/2014/main" id="{A02F48C0-8079-4C7F-9CE4-A69930475FAA}"/>
              </a:ext>
            </a:extLst>
          </p:cNvPr>
          <p:cNvSpPr>
            <a:spLocks xmlns:a="http://schemas.openxmlformats.org/drawingml/2006/main" noGrp="1"/>
          </p:cNvSpPr>
          <p:nvPr/>
        </p:nvSpPr>
        <p:spPr>
          <a:xfrm xmlns:a="http://schemas.openxmlformats.org/drawingml/2006/main">
            <a:off x="771525" y="4124325"/>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92638"/>
                </a:solidFill>
                <a:latin typeface="Apple SD Gothic Neo"/>
                <a:ea typeface="Apple SD Gothic Neo"/>
                <a:cs typeface="Apple SD Gothic Neo"/>
              </a:defRPr>
            </a:pPr>
            <a:r>
              <a:rPr sz="2850" b="0">
                <a:solidFill>
                  <a:srgbClr val="192638"/>
                </a:solidFill>
                <a:latin typeface="Apple SD Gothic Neo"/>
                <a:ea typeface="Apple SD Gothic Neo"/>
                <a:cs typeface="Apple SD Gothic Neo"/>
              </a:rPr>
              <a:t>작업 범위를 나누지 않은 동시 수정</a:t>
            </a:r>
          </a:p>
        </p:txBody>
      </p:sp>
      <p:sp>
        <p:nvSpPr>
          <p:cNvPr id="6" name="">
            <a:extLst xmlns:a="http://schemas.openxmlformats.org/drawingml/2006/main">
              <a:ext uri="{FF2B5EF4-FFF2-40B4-BE49-F238E27FC236}">
                <a16:creationId xmlns:a16="http://schemas.microsoft.com/office/drawing/2014/main" id="{534C5ADE-3397-4224-8D64-A351B8CB75A1}"/>
              </a:ext>
            </a:extLst>
          </p:cNvPr>
          <p:cNvSpPr>
            <a:spLocks xmlns:a="http://schemas.openxmlformats.org/drawingml/2006/main" noGrp="1"/>
          </p:cNvSpPr>
          <p:nvPr/>
        </p:nvSpPr>
        <p:spPr>
          <a:xfrm xmlns:a="http://schemas.openxmlformats.org/drawingml/2006/main">
            <a:off x="771525" y="504825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92638"/>
                </a:solidFill>
                <a:latin typeface="Apple SD Gothic Neo"/>
                <a:ea typeface="Apple SD Gothic Neo"/>
                <a:cs typeface="Apple SD Gothic Neo"/>
              </a:defRPr>
            </a:pPr>
            <a:r>
              <a:rPr sz="2850" b="0">
                <a:solidFill>
                  <a:srgbClr val="192638"/>
                </a:solidFill>
                <a:latin typeface="Apple SD Gothic Neo"/>
                <a:ea typeface="Apple SD Gothic Neo"/>
                <a:cs typeface="Apple SD Gothic Neo"/>
              </a:rPr>
              <a:t>운영 DB에서 테스트, 자동 백업도 없음</a:t>
            </a:r>
          </a:p>
        </p:txBody>
      </p:sp>
    </p:spTree>
    <p:extLst>
      <p:ext uri="{BB962C8B-B14F-4D97-AF65-F5344CB8AC3E}">
        <p14:creationId xmlns:p14="http://schemas.microsoft.com/office/powerpoint/2010/main" val="1849507161"/>
      </p:ext>
    </p:extLst>
  </p:cSld>
</p:sld>
</file>

<file path=ppt/slides/slide12.xml><?xml version="1.0" encoding="utf-8"?>
<p:sld xmlns:p="http://schemas.openxmlformats.org/presentationml/2006/main">
  <p:cSld>
    <p:bg>
      <p:bgPr>
        <a:solidFill xmlns:a="http://schemas.openxmlformats.org/drawingml/2006/main">
          <a:srgbClr val="14233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217054-BE08-4032-8DB1-F6A04748F689}"/>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내가 검증하는 속도가 한계를 정했다</a:t>
            </a:r>
          </a:p>
        </p:txBody>
      </p:sp>
      <p:sp>
        <p:nvSpPr>
          <p:cNvPr id="2" name="">
            <a:extLst xmlns:a="http://schemas.openxmlformats.org/drawingml/2006/main">
              <a:ext uri="{FF2B5EF4-FFF2-40B4-BE49-F238E27FC236}">
                <a16:creationId xmlns:a16="http://schemas.microsoft.com/office/drawing/2014/main" id="{904D5472-C188-474D-B191-3252287CF9A6}"/>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BC8D0"/>
                </a:solidFill>
                <a:latin typeface="Apple SD Gothic Neo"/>
                <a:ea typeface="Apple SD Gothic Neo"/>
                <a:cs typeface="Apple SD Gothic Neo"/>
              </a:defRPr>
            </a:pPr>
            <a:r>
              <a:rPr sz="1425" b="0">
                <a:solidFill>
                  <a:srgbClr val="BBC8D0"/>
                </a:solidFill>
                <a:latin typeface="Apple SD Gothic Neo"/>
                <a:ea typeface="Apple SD Gothic Neo"/>
                <a:cs typeface="Apple SD Gothic Neo"/>
              </a:rPr>
              <a:t>12</a:t>
            </a:r>
          </a:p>
        </p:txBody>
      </p:sp>
      <p:sp>
        <p:nvSpPr>
          <p:cNvPr id="3" name="">
            <a:extLst xmlns:a="http://schemas.openxmlformats.org/drawingml/2006/main">
              <a:ext uri="{FF2B5EF4-FFF2-40B4-BE49-F238E27FC236}">
                <a16:creationId xmlns:a16="http://schemas.microsoft.com/office/drawing/2014/main" id="{161214AC-94C4-4920-AD50-240526BDA2DF}"/>
              </a:ext>
            </a:extLst>
          </p:cNvPr>
          <p:cNvSpPr>
            <a:spLocks xmlns:a="http://schemas.openxmlformats.org/drawingml/2006/main" noGrp="1"/>
          </p:cNvSpPr>
          <p:nvPr/>
        </p:nvSpPr>
        <p:spPr>
          <a:xfrm xmlns:a="http://schemas.openxmlformats.org/drawingml/2006/main">
            <a:off x="723900" y="2028825"/>
            <a:ext cx="476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75" b="1">
                <a:solidFill>
                  <a:srgbClr val="FFFFFF"/>
                </a:solidFill>
                <a:latin typeface="Apple SD Gothic Neo"/>
                <a:ea typeface="Apple SD Gothic Neo"/>
                <a:cs typeface="Apple SD Gothic Neo"/>
              </a:defRPr>
            </a:pPr>
            <a:r>
              <a:rPr sz="7875" b="1">
                <a:solidFill>
                  <a:srgbClr val="FFFFFF"/>
                </a:solidFill>
                <a:latin typeface="Apple SD Gothic Neo"/>
                <a:ea typeface="Apple SD Gothic Neo"/>
                <a:cs typeface="Apple SD Gothic Neo"/>
              </a:rPr>
              <a:t>9개</a:t>
            </a:r>
          </a:p>
        </p:txBody>
      </p:sp>
      <p:sp>
        <p:nvSpPr>
          <p:cNvPr id="4" name="">
            <a:extLst xmlns:a="http://schemas.openxmlformats.org/drawingml/2006/main">
              <a:ext uri="{FF2B5EF4-FFF2-40B4-BE49-F238E27FC236}">
                <a16:creationId xmlns:a16="http://schemas.microsoft.com/office/drawing/2014/main" id="{5D5391EA-0F31-451B-AD83-5A1C02D0F138}"/>
              </a:ext>
            </a:extLst>
          </p:cNvPr>
          <p:cNvSpPr>
            <a:spLocks xmlns:a="http://schemas.openxmlformats.org/drawingml/2006/main" noGrp="1"/>
          </p:cNvSpPr>
          <p:nvPr/>
        </p:nvSpPr>
        <p:spPr>
          <a:xfrm xmlns:a="http://schemas.openxmlformats.org/drawingml/2006/main">
            <a:off x="781050" y="3409950"/>
            <a:ext cx="5095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BC8D0"/>
                </a:solidFill>
                <a:latin typeface="Apple SD Gothic Neo"/>
                <a:ea typeface="Apple SD Gothic Neo"/>
                <a:cs typeface="Apple SD Gothic Neo"/>
              </a:defRPr>
            </a:pPr>
            <a:r>
              <a:rPr sz="2325" b="0">
                <a:solidFill>
                  <a:srgbClr val="BBC8D0"/>
                </a:solidFill>
                <a:latin typeface="Apple SD Gothic Neo"/>
                <a:ea typeface="Apple SD Gothic Neo"/>
                <a:cs typeface="Apple SD Gothic Neo"/>
              </a:rPr>
              <a:t>내가 다루던 애플리케이션</a:t>
            </a:r>
          </a:p>
        </p:txBody>
      </p:sp>
      <p:sp>
        <p:nvSpPr>
          <p:cNvPr id="5" name="">
            <a:extLst xmlns:a="http://schemas.openxmlformats.org/drawingml/2006/main">
              <a:ext uri="{FF2B5EF4-FFF2-40B4-BE49-F238E27FC236}">
                <a16:creationId xmlns:a16="http://schemas.microsoft.com/office/drawing/2014/main" id="{DB77AD69-525B-4979-A09E-5B897CB9EC17}"/>
              </a:ext>
            </a:extLst>
          </p:cNvPr>
          <p:cNvSpPr>
            <a:spLocks xmlns:a="http://schemas.openxmlformats.org/drawingml/2006/main" noGrp="1"/>
          </p:cNvSpPr>
          <p:nvPr/>
        </p:nvSpPr>
        <p:spPr>
          <a:xfrm xmlns:a="http://schemas.openxmlformats.org/drawingml/2006/main">
            <a:off x="6486525" y="2028825"/>
            <a:ext cx="476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75" b="1">
                <a:solidFill>
                  <a:srgbClr val="FFFFFF"/>
                </a:solidFill>
                <a:latin typeface="Apple SD Gothic Neo"/>
                <a:ea typeface="Apple SD Gothic Neo"/>
                <a:cs typeface="Apple SD Gothic Neo"/>
              </a:defRPr>
            </a:pPr>
            <a:r>
              <a:rPr sz="7875" b="1">
                <a:solidFill>
                  <a:srgbClr val="FFFFFF"/>
                </a:solidFill>
                <a:latin typeface="Apple SD Gothic Neo"/>
                <a:ea typeface="Apple SD Gothic Neo"/>
                <a:cs typeface="Apple SD Gothic Neo"/>
              </a:rPr>
              <a:t>4개</a:t>
            </a:r>
          </a:p>
        </p:txBody>
      </p:sp>
      <p:sp>
        <p:nvSpPr>
          <p:cNvPr id="6" name="">
            <a:extLst xmlns:a="http://schemas.openxmlformats.org/drawingml/2006/main">
              <a:ext uri="{FF2B5EF4-FFF2-40B4-BE49-F238E27FC236}">
                <a16:creationId xmlns:a16="http://schemas.microsoft.com/office/drawing/2014/main" id="{0A491F77-98B0-495E-A25E-D11A1A9F2577}"/>
              </a:ext>
            </a:extLst>
          </p:cNvPr>
          <p:cNvSpPr>
            <a:spLocks xmlns:a="http://schemas.openxmlformats.org/drawingml/2006/main" noGrp="1"/>
          </p:cNvSpPr>
          <p:nvPr/>
        </p:nvSpPr>
        <p:spPr>
          <a:xfrm xmlns:a="http://schemas.openxmlformats.org/drawingml/2006/main">
            <a:off x="6534150" y="3409950"/>
            <a:ext cx="5000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BC8D0"/>
                </a:solidFill>
                <a:latin typeface="Apple SD Gothic Neo"/>
                <a:ea typeface="Apple SD Gothic Neo"/>
                <a:cs typeface="Apple SD Gothic Neo"/>
              </a:defRPr>
            </a:pPr>
            <a:r>
              <a:rPr sz="2325" b="0">
                <a:solidFill>
                  <a:srgbClr val="BBC8D0"/>
                </a:solidFill>
                <a:latin typeface="Apple SD Gothic Neo"/>
                <a:ea typeface="Apple SD Gothic Neo"/>
                <a:cs typeface="Apple SD Gothic Neo"/>
              </a:rPr>
              <a:t>당시 동시에 맡기던 프로젝트</a:t>
            </a:r>
          </a:p>
        </p:txBody>
      </p:sp>
      <p:sp>
        <p:nvSpPr>
          <p:cNvPr id="7" name="">
            <a:extLst xmlns:a="http://schemas.openxmlformats.org/drawingml/2006/main">
              <a:ext uri="{FF2B5EF4-FFF2-40B4-BE49-F238E27FC236}">
                <a16:creationId xmlns:a16="http://schemas.microsoft.com/office/drawing/2014/main" id="{588B5AA5-BE81-48CF-A562-2C0A97E1497B}"/>
              </a:ext>
            </a:extLst>
          </p:cNvPr>
          <p:cNvSpPr>
            <a:spLocks xmlns:a="http://schemas.openxmlformats.org/drawingml/2006/main" noGrp="1"/>
          </p:cNvSpPr>
          <p:nvPr/>
        </p:nvSpPr>
        <p:spPr>
          <a:xfrm xmlns:a="http://schemas.openxmlformats.org/drawingml/2006/main">
            <a:off x="762000" y="455295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FFFFFF"/>
                </a:solidFill>
                <a:latin typeface="Apple SD Gothic Neo"/>
                <a:ea typeface="Apple SD Gothic Neo"/>
                <a:cs typeface="Apple SD Gothic Neo"/>
              </a:defRPr>
            </a:pPr>
            <a:r>
              <a:rPr sz="3150" b="0">
                <a:solidFill>
                  <a:srgbClr val="FFFFFF"/>
                </a:solidFill>
                <a:latin typeface="Apple SD Gothic Neo"/>
                <a:ea typeface="Apple SD Gothic Neo"/>
                <a:cs typeface="Apple SD Gothic Neo"/>
              </a:rPr>
              <a:t>하나의 결과를 확인하면</a:t>
            </a:r>
          </a:p>
          <a:p xmlns:a="http://schemas.openxmlformats.org/drawingml/2006/main">
            <a:pPr algn="l">
              <a:defRPr sz="3150" b="0">
                <a:solidFill>
                  <a:srgbClr val="FFFFFF"/>
                </a:solidFill>
                <a:latin typeface="Apple SD Gothic Neo"/>
                <a:ea typeface="Apple SD Gothic Neo"/>
                <a:cs typeface="Apple SD Gothic Neo"/>
              </a:defRPr>
            </a:pPr>
            <a:r>
              <a:rPr sz="3150" b="0">
                <a:solidFill>
                  <a:srgbClr val="FFFFFF"/>
                </a:solidFill>
                <a:latin typeface="Apple SD Gothic Neo"/>
                <a:ea typeface="Apple SD Gothic Neo"/>
                <a:cs typeface="Apple SD Gothic Neo"/>
              </a:rPr>
              <a:t>다른 에이전트가 검증을 기다렸다.</a:t>
            </a:r>
          </a:p>
        </p:txBody>
      </p:sp>
    </p:spTree>
    <p:extLst>
      <p:ext uri="{BB962C8B-B14F-4D97-AF65-F5344CB8AC3E}">
        <p14:creationId xmlns:p14="http://schemas.microsoft.com/office/powerpoint/2010/main" val="1529723025"/>
      </p:ext>
    </p:extLst>
  </p:cSld>
</p:sld>
</file>

<file path=ppt/slides/slide1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1FED0D-E99E-4619-A1FD-1658306B642F}"/>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대표도 AI로 직접 시스템을 만들었다</a:t>
            </a:r>
          </a:p>
        </p:txBody>
      </p:sp>
      <p:sp>
        <p:nvSpPr>
          <p:cNvPr id="2" name="">
            <a:extLst xmlns:a="http://schemas.openxmlformats.org/drawingml/2006/main">
              <a:ext uri="{FF2B5EF4-FFF2-40B4-BE49-F238E27FC236}">
                <a16:creationId xmlns:a16="http://schemas.microsoft.com/office/drawing/2014/main" id="{282D0569-7B3E-4B77-A6C7-A314E2F072ED}"/>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13</a:t>
            </a:r>
          </a:p>
        </p:txBody>
      </p:sp>
      <p:sp>
        <p:nvSpPr>
          <p:cNvPr id="3" name="">
            <a:extLst xmlns:a="http://schemas.openxmlformats.org/drawingml/2006/main">
              <a:ext uri="{FF2B5EF4-FFF2-40B4-BE49-F238E27FC236}">
                <a16:creationId xmlns:a16="http://schemas.microsoft.com/office/drawing/2014/main" id="{51DFB31C-8690-4325-A94D-0AD9CB5540E6}"/>
              </a:ext>
            </a:extLst>
          </p:cNvPr>
          <p:cNvSpPr>
            <a:spLocks xmlns:a="http://schemas.openxmlformats.org/drawingml/2006/main" noGrp="1"/>
          </p:cNvSpPr>
          <p:nvPr/>
        </p:nvSpPr>
        <p:spPr>
          <a:xfrm xmlns:a="http://schemas.openxmlformats.org/drawingml/2006/main">
            <a:off x="723900" y="2085975"/>
            <a:ext cx="10287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75" b="1">
                <a:solidFill>
                  <a:srgbClr val="C7542C"/>
                </a:solidFill>
                <a:latin typeface="Apple SD Gothic Neo"/>
                <a:ea typeface="Apple SD Gothic Neo"/>
                <a:cs typeface="Apple SD Gothic Neo"/>
              </a:defRPr>
            </a:pPr>
            <a:r>
              <a:rPr sz="7875" b="1">
                <a:solidFill>
                  <a:srgbClr val="C7542C"/>
                </a:solidFill>
                <a:latin typeface="Apple SD Gothic Neo"/>
                <a:ea typeface="Apple SD Gothic Neo"/>
                <a:cs typeface="Apple SD Gothic Neo"/>
              </a:rPr>
              <a:t>약 한 달</a:t>
            </a:r>
          </a:p>
        </p:txBody>
      </p:sp>
      <p:sp>
        <p:nvSpPr>
          <p:cNvPr id="4" name="">
            <a:extLst xmlns:a="http://schemas.openxmlformats.org/drawingml/2006/main">
              <a:ext uri="{FF2B5EF4-FFF2-40B4-BE49-F238E27FC236}">
                <a16:creationId xmlns:a16="http://schemas.microsoft.com/office/drawing/2014/main" id="{2114E137-70DC-49AD-95DC-C74718995CA4}"/>
              </a:ext>
            </a:extLst>
          </p:cNvPr>
          <p:cNvSpPr>
            <a:spLocks xmlns:a="http://schemas.openxmlformats.org/drawingml/2006/main" noGrp="1"/>
          </p:cNvSpPr>
          <p:nvPr/>
        </p:nvSpPr>
        <p:spPr>
          <a:xfrm xmlns:a="http://schemas.openxmlformats.org/drawingml/2006/main">
            <a:off x="781050" y="3762375"/>
            <a:ext cx="10477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92638"/>
                </a:solidFill>
                <a:latin typeface="Apple SD Gothic Neo"/>
                <a:ea typeface="Apple SD Gothic Neo"/>
                <a:cs typeface="Apple SD Gothic Neo"/>
              </a:defRPr>
            </a:pPr>
            <a:r>
              <a:rPr sz="3225" b="1">
                <a:solidFill>
                  <a:srgbClr val="192638"/>
                </a:solidFill>
                <a:latin typeface="Apple SD Gothic Neo"/>
                <a:ea typeface="Apple SD Gothic Neo"/>
                <a:cs typeface="Apple SD Gothic Neo"/>
              </a:rPr>
              <a:t>개발 경험이 없던 대표가</a:t>
            </a:r>
          </a:p>
          <a:p xmlns:a="http://schemas.openxmlformats.org/drawingml/2006/main">
            <a:pPr algn="l">
              <a:defRPr sz="3225" b="1">
                <a:solidFill>
                  <a:srgbClr val="192638"/>
                </a:solidFill>
                <a:latin typeface="Apple SD Gothic Neo"/>
                <a:ea typeface="Apple SD Gothic Neo"/>
                <a:cs typeface="Apple SD Gothic Neo"/>
              </a:defRPr>
            </a:pPr>
            <a:r>
              <a:rPr sz="3225" b="1">
                <a:solidFill>
                  <a:srgbClr val="192638"/>
                </a:solidFill>
                <a:latin typeface="Apple SD Gothic Neo"/>
                <a:ea typeface="Apple SD Gothic Neo"/>
                <a:cs typeface="Apple SD Gothic Neo"/>
              </a:rPr>
              <a:t>백오피스와 백엔드를 만들고 배포</a:t>
            </a:r>
          </a:p>
        </p:txBody>
      </p:sp>
      <p:sp>
        <p:nvSpPr>
          <p:cNvPr id="5" name="">
            <a:extLst xmlns:a="http://schemas.openxmlformats.org/drawingml/2006/main">
              <a:ext uri="{FF2B5EF4-FFF2-40B4-BE49-F238E27FC236}">
                <a16:creationId xmlns:a16="http://schemas.microsoft.com/office/drawing/2014/main" id="{F0075540-FCFF-4949-B193-D68C515BCCE7}"/>
              </a:ext>
            </a:extLst>
          </p:cNvPr>
          <p:cNvSpPr>
            <a:spLocks xmlns:a="http://schemas.openxmlformats.org/drawingml/2006/main" noGrp="1"/>
          </p:cNvSpPr>
          <p:nvPr/>
        </p:nvSpPr>
        <p:spPr>
          <a:xfrm xmlns:a="http://schemas.openxmlformats.org/drawingml/2006/main">
            <a:off x="723900" y="60102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171"/>
                </a:solidFill>
                <a:latin typeface="Apple SD Gothic Neo"/>
                <a:ea typeface="Apple SD Gothic Neo"/>
                <a:cs typeface="Apple SD Gothic Neo"/>
              </a:defRPr>
            </a:pPr>
            <a:r>
              <a:rPr sz="1725" b="0">
                <a:solidFill>
                  <a:srgbClr val="536171"/>
                </a:solidFill>
                <a:latin typeface="Apple SD Gothic Neo"/>
                <a:ea typeface="Apple SD Gothic Neo"/>
                <a:cs typeface="Apple SD Gothic Neo"/>
              </a:rPr>
              <a:t>함께 실행해 보니, 기본적인 이벤트 등록에서도 오류가 나왔다.</a:t>
            </a:r>
          </a:p>
        </p:txBody>
      </p:sp>
    </p:spTree>
    <p:extLst>
      <p:ext uri="{BB962C8B-B14F-4D97-AF65-F5344CB8AC3E}">
        <p14:creationId xmlns:p14="http://schemas.microsoft.com/office/powerpoint/2010/main" val="259162228"/>
      </p:ext>
    </p:extLst>
  </p:cSld>
</p:sld>
</file>

<file path=ppt/slides/slide1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B37D0C-3152-4B32-ABDB-D807FEA874C6}"/>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대표의 선택에도 사업상의 이유가 있었다</a:t>
            </a:r>
          </a:p>
        </p:txBody>
      </p:sp>
      <p:sp>
        <p:nvSpPr>
          <p:cNvPr id="2" name="">
            <a:extLst xmlns:a="http://schemas.openxmlformats.org/drawingml/2006/main">
              <a:ext uri="{FF2B5EF4-FFF2-40B4-BE49-F238E27FC236}">
                <a16:creationId xmlns:a16="http://schemas.microsoft.com/office/drawing/2014/main" id="{2868F895-1E02-45A1-8954-3C98FA9A2A0F}"/>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14</a:t>
            </a:r>
          </a:p>
        </p:txBody>
      </p:sp>
      <p:sp>
        <p:nvSpPr>
          <p:cNvPr id="3" name="">
            <a:extLst xmlns:a="http://schemas.openxmlformats.org/drawingml/2006/main">
              <a:ext uri="{FF2B5EF4-FFF2-40B4-BE49-F238E27FC236}">
                <a16:creationId xmlns:a16="http://schemas.microsoft.com/office/drawing/2014/main" id="{0F19DD1E-BF2F-4E9F-A4A5-2DF8B896DB77}"/>
              </a:ext>
            </a:extLst>
          </p:cNvPr>
          <p:cNvSpPr>
            <a:spLocks xmlns:a="http://schemas.openxmlformats.org/drawingml/2006/main" noGrp="1"/>
          </p:cNvSpPr>
          <p:nvPr/>
        </p:nvSpPr>
        <p:spPr>
          <a:xfrm xmlns:a="http://schemas.openxmlformats.org/drawingml/2006/main">
            <a:off x="723900" y="2066925"/>
            <a:ext cx="5000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C7542C"/>
                </a:solidFill>
                <a:latin typeface="Apple SD Gothic Neo"/>
                <a:ea typeface="Apple SD Gothic Neo"/>
                <a:cs typeface="Apple SD Gothic Neo"/>
              </a:defRPr>
            </a:pPr>
            <a:r>
              <a:rPr sz="2625" b="1">
                <a:solidFill>
                  <a:srgbClr val="C7542C"/>
                </a:solidFill>
                <a:latin typeface="Apple SD Gothic Neo"/>
                <a:ea typeface="Apple SD Gothic Neo"/>
                <a:cs typeface="Apple SD Gothic Neo"/>
              </a:rPr>
              <a:t>대표에게 필요했던 것</a:t>
            </a:r>
          </a:p>
        </p:txBody>
      </p:sp>
      <p:sp>
        <p:nvSpPr>
          <p:cNvPr id="4" name="">
            <a:extLst xmlns:a="http://schemas.openxmlformats.org/drawingml/2006/main">
              <a:ext uri="{FF2B5EF4-FFF2-40B4-BE49-F238E27FC236}">
                <a16:creationId xmlns:a16="http://schemas.microsoft.com/office/drawing/2014/main" id="{4BCF6CA0-1102-495E-9FBE-24D1C2154977}"/>
              </a:ext>
            </a:extLst>
          </p:cNvPr>
          <p:cNvSpPr>
            <a:spLocks xmlns:a="http://schemas.openxmlformats.org/drawingml/2006/main" noGrp="1"/>
          </p:cNvSpPr>
          <p:nvPr/>
        </p:nvSpPr>
        <p:spPr>
          <a:xfrm xmlns:a="http://schemas.openxmlformats.org/drawingml/2006/main">
            <a:off x="762000" y="3105150"/>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92638"/>
                </a:solidFill>
                <a:latin typeface="Apple SD Gothic Neo"/>
                <a:ea typeface="Apple SD Gothic Neo"/>
                <a:cs typeface="Apple SD Gothic Neo"/>
              </a:defRPr>
            </a:pPr>
            <a:r>
              <a:rPr sz="2925" b="0">
                <a:solidFill>
                  <a:srgbClr val="192638"/>
                </a:solidFill>
                <a:latin typeface="Apple SD Gothic Neo"/>
                <a:ea typeface="Apple SD Gothic Neo"/>
                <a:cs typeface="Apple SD Gothic Neo"/>
              </a:rPr>
              <a:t>자금이 줄어드는 상황에서</a:t>
            </a:r>
          </a:p>
          <a:p xmlns:a="http://schemas.openxmlformats.org/drawingml/2006/main">
            <a:pPr algn="l">
              <a:defRPr sz="2925" b="0">
                <a:solidFill>
                  <a:srgbClr val="192638"/>
                </a:solidFill>
                <a:latin typeface="Apple SD Gothic Neo"/>
                <a:ea typeface="Apple SD Gothic Neo"/>
                <a:cs typeface="Apple SD Gothic Neo"/>
              </a:defRPr>
            </a:pPr>
            <a:r>
              <a:rPr sz="2925" b="0">
                <a:solidFill>
                  <a:srgbClr val="192638"/>
                </a:solidFill>
                <a:latin typeface="Apple SD Gothic Neo"/>
                <a:ea typeface="Apple SD Gothic Neo"/>
                <a:cs typeface="Apple SD Gothic Neo"/>
              </a:rPr>
              <a:t>세일즈에 보여 줄 서비스</a:t>
            </a:r>
          </a:p>
        </p:txBody>
      </p:sp>
      <p:sp>
        <p:nvSpPr>
          <p:cNvPr id="5" name="">
            <a:extLst xmlns:a="http://schemas.openxmlformats.org/drawingml/2006/main">
              <a:ext uri="{FF2B5EF4-FFF2-40B4-BE49-F238E27FC236}">
                <a16:creationId xmlns:a16="http://schemas.microsoft.com/office/drawing/2014/main" id="{1A7417B3-B1C6-4A4F-AA34-EB4D6CB60173}"/>
              </a:ext>
            </a:extLst>
          </p:cNvPr>
          <p:cNvSpPr>
            <a:spLocks xmlns:a="http://schemas.openxmlformats.org/drawingml/2006/main" noGrp="1"/>
          </p:cNvSpPr>
          <p:nvPr/>
        </p:nvSpPr>
        <p:spPr>
          <a:xfrm xmlns:a="http://schemas.openxmlformats.org/drawingml/2006/main">
            <a:off x="6505575" y="2066925"/>
            <a:ext cx="4953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C7542C"/>
                </a:solidFill>
                <a:latin typeface="Apple SD Gothic Neo"/>
                <a:ea typeface="Apple SD Gothic Neo"/>
                <a:cs typeface="Apple SD Gothic Neo"/>
              </a:defRPr>
            </a:pPr>
            <a:r>
              <a:rPr sz="2625" b="1">
                <a:solidFill>
                  <a:srgbClr val="C7542C"/>
                </a:solidFill>
                <a:latin typeface="Apple SD Gothic Neo"/>
                <a:ea typeface="Apple SD Gothic Neo"/>
                <a:cs typeface="Apple SD Gothic Neo"/>
              </a:rPr>
              <a:t>내게 의미가 있었던 것</a:t>
            </a:r>
          </a:p>
        </p:txBody>
      </p:sp>
      <p:sp>
        <p:nvSpPr>
          <p:cNvPr id="6" name="">
            <a:extLst xmlns:a="http://schemas.openxmlformats.org/drawingml/2006/main">
              <a:ext uri="{FF2B5EF4-FFF2-40B4-BE49-F238E27FC236}">
                <a16:creationId xmlns:a16="http://schemas.microsoft.com/office/drawing/2014/main" id="{45E41FA9-C373-4C06-949D-68A402A2DD66}"/>
              </a:ext>
            </a:extLst>
          </p:cNvPr>
          <p:cNvSpPr>
            <a:spLocks xmlns:a="http://schemas.openxmlformats.org/drawingml/2006/main" noGrp="1"/>
          </p:cNvSpPr>
          <p:nvPr/>
        </p:nvSpPr>
        <p:spPr>
          <a:xfrm xmlns:a="http://schemas.openxmlformats.org/drawingml/2006/main">
            <a:off x="6524625" y="3105150"/>
            <a:ext cx="4953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92638"/>
                </a:solidFill>
                <a:latin typeface="Apple SD Gothic Neo"/>
                <a:ea typeface="Apple SD Gothic Neo"/>
                <a:cs typeface="Apple SD Gothic Neo"/>
              </a:defRPr>
            </a:pPr>
            <a:r>
              <a:rPr sz="2700" b="0">
                <a:solidFill>
                  <a:srgbClr val="192638"/>
                </a:solidFill>
                <a:latin typeface="Apple SD Gothic Neo"/>
                <a:ea typeface="Apple SD Gothic Neo"/>
                <a:cs typeface="Apple SD Gothic Neo"/>
              </a:rPr>
              <a:t>말로 파악하기 어려웠던 요구를</a:t>
            </a:r>
          </a:p>
          <a:p xmlns:a="http://schemas.openxmlformats.org/drawingml/2006/main">
            <a:pPr algn="l">
              <a:defRPr sz="2700" b="0">
                <a:solidFill>
                  <a:srgbClr val="192638"/>
                </a:solidFill>
                <a:latin typeface="Apple SD Gothic Neo"/>
                <a:ea typeface="Apple SD Gothic Neo"/>
                <a:cs typeface="Apple SD Gothic Neo"/>
              </a:defRPr>
            </a:pPr>
            <a:r>
              <a:rPr sz="2700" b="0">
                <a:solidFill>
                  <a:srgbClr val="192638"/>
                </a:solidFill>
                <a:latin typeface="Apple SD Gothic Neo"/>
                <a:ea typeface="Apple SD Gothic Neo"/>
                <a:cs typeface="Apple SD Gothic Neo"/>
              </a:rPr>
              <a:t>동작하는 화면으로 확인</a:t>
            </a:r>
          </a:p>
        </p:txBody>
      </p:sp>
      <p:sp>
        <p:nvSpPr>
          <p:cNvPr id="7" name="">
            <a:extLst xmlns:a="http://schemas.openxmlformats.org/drawingml/2006/main">
              <a:ext uri="{FF2B5EF4-FFF2-40B4-BE49-F238E27FC236}">
                <a16:creationId xmlns:a16="http://schemas.microsoft.com/office/drawing/2014/main" id="{BDEDC2A9-2A9F-4CB6-86C2-B67C76771758}"/>
              </a:ext>
            </a:extLst>
          </p:cNvPr>
          <p:cNvSpPr>
            <a:spLocks xmlns:a="http://schemas.openxmlformats.org/drawingml/2006/main" noGrp="1"/>
          </p:cNvSpPr>
          <p:nvPr/>
        </p:nvSpPr>
        <p:spPr>
          <a:xfrm xmlns:a="http://schemas.openxmlformats.org/drawingml/2006/main">
            <a:off x="723900" y="60102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171"/>
                </a:solidFill>
                <a:latin typeface="Apple SD Gothic Neo"/>
                <a:ea typeface="Apple SD Gothic Neo"/>
                <a:cs typeface="Apple SD Gothic Neo"/>
              </a:defRPr>
            </a:pPr>
            <a:r>
              <a:rPr sz="1725" b="0">
                <a:solidFill>
                  <a:srgbClr val="536171"/>
                </a:solidFill>
                <a:latin typeface="Apple SD Gothic Neo"/>
                <a:ea typeface="Apple SD Gothic Neo"/>
                <a:cs typeface="Apple SD Gothic Neo"/>
              </a:rPr>
              <a:t>내가 만들던 새 백엔드와 앱은 폐기했고, 이후 개발은 대표가 주도했다.</a:t>
            </a:r>
          </a:p>
        </p:txBody>
      </p:sp>
    </p:spTree>
    <p:extLst>
      <p:ext uri="{BB962C8B-B14F-4D97-AF65-F5344CB8AC3E}">
        <p14:creationId xmlns:p14="http://schemas.microsoft.com/office/powerpoint/2010/main" val="918403781"/>
      </p:ext>
    </p:extLst>
  </p:cSld>
</p:sld>
</file>

<file path=ppt/slides/slide1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835D75C-6653-40C8-89C1-0BC4BB928D39}"/>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기술 선택을 둘러싼 갈등</a:t>
            </a:r>
          </a:p>
        </p:txBody>
      </p:sp>
      <p:sp>
        <p:nvSpPr>
          <p:cNvPr id="2" name="">
            <a:extLst xmlns:a="http://schemas.openxmlformats.org/drawingml/2006/main">
              <a:ext uri="{FF2B5EF4-FFF2-40B4-BE49-F238E27FC236}">
                <a16:creationId xmlns:a16="http://schemas.microsoft.com/office/drawing/2014/main" id="{83D49A18-9DFF-4C58-993A-11E20F5BA27A}"/>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15</a:t>
            </a:r>
          </a:p>
        </p:txBody>
      </p:sp>
      <p:graphicFrame>
        <p:nvGraphicFramePr>
          <p:cNvPr id="7" name=""/>
          <p:cNvGraphicFramePr/>
          <p:nvPr/>
        </p:nvGraphicFramePr>
        <p:xfrm>
          <a:off xmlns:a="http://schemas.openxmlformats.org/drawingml/2006/main" x="723900" y="1971675"/>
          <a:ext xmlns:a="http://schemas.openxmlformats.org/drawingml/2006/main" cx="10744200" cy="3695700"/>
        </p:xfrm>
        <a:graphic xmlns:a="http://schemas.openxmlformats.org/drawingml/2006/main">
          <a:graphicData uri="http://schemas.openxmlformats.org/drawingml/2006/table">
            <a:tbl>
              <a:tblPr firstRow="0" bandRow="0"/>
              <a:tblGrid>
                <a:gridCol w="2266950"/>
                <a:gridCol w="3905250"/>
                <a:gridCol w="4572000"/>
              </a:tblGrid>
              <a:tr h="571500">
                <a:tc>
                  <a:txBody>
                    <a:bodyPr lIns="190500" tIns="133350" rIns="171450" bIns="133350">
                      <a:noAutofit/>
                    </a:bodyPr>
                    <a:lstStyle/>
                    <a:p>
                      <a:r>
                        <a:rPr sz="2100" b="1">
                          <a:solidFill>
                            <a:srgbClr val="FFFFFF"/>
                          </a:solidFill>
                          <a:latin typeface="Apple SD Gothic Neo"/>
                          <a:ea typeface="Apple SD Gothic Neo"/>
                          <a:cs typeface="Apple SD Gothic Neo"/>
                        </a:rPr>
                        <a:t>대상</a:t>
                      </a:r>
                    </a:p>
                  </a:txBody>
                  <a:tcPr marL="91440" marR="91440" marT="45720" marB="45720" anchor="ctr">
                    <a:solidFill>
                      <a:srgbClr val="142333"/>
                    </a:solidFill>
                  </a:tcPr>
                </a:tc>
                <a:tc>
                  <a:txBody>
                    <a:bodyPr lIns="190500" tIns="133350" rIns="171450" bIns="133350">
                      <a:noAutofit/>
                    </a:bodyPr>
                    <a:lstStyle/>
                    <a:p>
                      <a:r>
                        <a:rPr sz="2100" b="1">
                          <a:solidFill>
                            <a:srgbClr val="FFFFFF"/>
                          </a:solidFill>
                          <a:latin typeface="Apple SD Gothic Neo"/>
                          <a:ea typeface="Apple SD Gothic Neo"/>
                          <a:cs typeface="Apple SD Gothic Neo"/>
                        </a:rPr>
                        <a:t>대표의 선택</a:t>
                      </a:r>
                    </a:p>
                  </a:txBody>
                  <a:tcPr marL="91440" marR="91440" marT="45720" marB="45720" anchor="ctr">
                    <a:solidFill>
                      <a:srgbClr val="142333"/>
                    </a:solidFill>
                  </a:tcPr>
                </a:tc>
                <a:tc>
                  <a:txBody>
                    <a:bodyPr lIns="190500" tIns="133350" rIns="171450" bIns="133350">
                      <a:noAutofit/>
                    </a:bodyPr>
                    <a:lstStyle/>
                    <a:p>
                      <a:r>
                        <a:rPr sz="2100" b="1">
                          <a:solidFill>
                            <a:srgbClr val="FFFFFF"/>
                          </a:solidFill>
                          <a:latin typeface="Apple SD Gothic Neo"/>
                          <a:ea typeface="Apple SD Gothic Neo"/>
                          <a:cs typeface="Apple SD Gothic Neo"/>
                        </a:rPr>
                        <a:t>내가 중요하게 본 조건</a:t>
                      </a:r>
                    </a:p>
                  </a:txBody>
                  <a:tcPr marL="91440" marR="91440" marT="45720" marB="45720" anchor="ctr">
                    <a:solidFill>
                      <a:srgbClr val="142333"/>
                    </a:solidFill>
                  </a:tcPr>
                </a:tc>
              </a:tr>
              <a:tr h="1066800">
                <a:tc>
                  <a:txBody>
                    <a:bodyPr lIns="190500" tIns="133350" rIns="171450" bIns="133350">
                      <a:noAutofit/>
                    </a:bodyPr>
                    <a:lstStyle/>
                    <a:p>
                      <a:r>
                        <a:rPr sz="2175" b="0">
                          <a:solidFill>
                            <a:srgbClr val="192638"/>
                          </a:solidFill>
                          <a:latin typeface="Apple SD Gothic Neo"/>
                          <a:ea typeface="Apple SD Gothic Neo"/>
                          <a:cs typeface="Apple SD Gothic Neo"/>
                        </a:rPr>
                        <a:t>현장 키오스크</a:t>
                      </a:r>
                    </a:p>
                  </a:txBody>
                  <a:tcPr marL="91440" marR="91440" marT="45720" marB="45720" anchor="ctr">
                    <a:solidFill>
                      <a:srgbClr val="F7F5F0"/>
                    </a:solidFill>
                  </a:tcPr>
                </a:tc>
                <a:tc>
                  <a:txBody>
                    <a:bodyPr lIns="190500" tIns="133350" rIns="171450" bIns="133350">
                      <a:noAutofit/>
                    </a:bodyPr>
                    <a:lstStyle/>
                    <a:p>
                      <a:r>
                        <a:rPr sz="2175" b="0">
                          <a:solidFill>
                            <a:srgbClr val="192638"/>
                          </a:solidFill>
                          <a:latin typeface="Apple SD Gothic Neo"/>
                          <a:ea typeface="Apple SD Gothic Neo"/>
                          <a:cs typeface="Apple SD Gothic Neo"/>
                        </a:rPr>
                        <a:t>AI가 추천한 RN</a:t>
                      </a:r>
                    </a:p>
                    <a:p>
                      <a:r>
                        <a:rPr sz="2175" b="0">
                          <a:solidFill>
                            <a:srgbClr val="192638"/>
                          </a:solidFill>
                          <a:latin typeface="Apple SD Gothic Neo"/>
                          <a:ea typeface="Apple SD Gothic Neo"/>
                          <a:cs typeface="Apple SD Gothic Neo"/>
                        </a:rPr>
                        <a:t>자유로운 배포 희망</a:t>
                      </a:r>
                    </a:p>
                  </a:txBody>
                  <a:tcPr marL="91440" marR="91440" marT="45720" marB="45720" anchor="ctr">
                    <a:solidFill>
                      <a:srgbClr val="F7F5F0"/>
                    </a:solidFill>
                  </a:tcPr>
                </a:tc>
                <a:tc>
                  <a:txBody>
                    <a:bodyPr lIns="190500" tIns="133350" rIns="171450" bIns="133350">
                      <a:noAutofit/>
                    </a:bodyPr>
                    <a:lstStyle/>
                    <a:p>
                      <a:r>
                        <a:rPr sz="2175" b="0">
                          <a:solidFill>
                            <a:srgbClr val="192638"/>
                          </a:solidFill>
                          <a:latin typeface="Apple SD Gothic Neo"/>
                          <a:ea typeface="Apple SD Gothic Neo"/>
                          <a:cs typeface="Apple SD Gothic Neo"/>
                        </a:rPr>
                        <a:t>낮은 장치 성능</a:t>
                      </a:r>
                    </a:p>
                    <a:p>
                      <a:r>
                        <a:rPr sz="2175" b="0">
                          <a:solidFill>
                            <a:srgbClr val="192638"/>
                          </a:solidFill>
                          <a:latin typeface="Apple SD Gothic Neo"/>
                          <a:ea typeface="Apple SD Gothic Neo"/>
                          <a:cs typeface="Apple SD Gothic Neo"/>
                        </a:rPr>
                        <a:t>프린터·스캐너 연동</a:t>
                      </a:r>
                    </a:p>
                  </a:txBody>
                  <a:tcPr marL="91440" marR="91440" marT="45720" marB="45720" anchor="ctr">
                    <a:solidFill>
                      <a:srgbClr val="F7F5F0"/>
                    </a:solidFill>
                  </a:tcPr>
                </a:tc>
              </a:tr>
              <a:tr h="990600">
                <a:tc>
                  <a:txBody>
                    <a:bodyPr lIns="190500" tIns="133350" rIns="171450" bIns="133350">
                      <a:noAutofit/>
                    </a:bodyPr>
                    <a:lstStyle/>
                    <a:p>
                      <a:r>
                        <a:rPr sz="2175" b="0">
                          <a:solidFill>
                            <a:srgbClr val="192638"/>
                          </a:solidFill>
                          <a:latin typeface="Apple SD Gothic Neo"/>
                          <a:ea typeface="Apple SD Gothic Neo"/>
                          <a:cs typeface="Apple SD Gothic Neo"/>
                        </a:rPr>
                        <a:t>사용자 앱</a:t>
                      </a:r>
                    </a:p>
                  </a:txBody>
                  <a:tcPr marL="91440" marR="91440" marT="45720" marB="45720" anchor="ctr">
                    <a:solidFill>
                      <a:srgbClr val="F7F5F0"/>
                    </a:solidFill>
                  </a:tcPr>
                </a:tc>
                <a:tc>
                  <a:txBody>
                    <a:bodyPr lIns="190500" tIns="133350" rIns="171450" bIns="133350">
                      <a:noAutofit/>
                    </a:bodyPr>
                    <a:lstStyle/>
                    <a:p>
                      <a:r>
                        <a:rPr sz="2175" b="0">
                          <a:solidFill>
                            <a:srgbClr val="192638"/>
                          </a:solidFill>
                          <a:latin typeface="Apple SD Gothic Neo"/>
                          <a:ea typeface="Apple SD Gothic Neo"/>
                          <a:cs typeface="Apple SD Gothic Neo"/>
                        </a:rPr>
                        <a:t>AI가 추천한 RN</a:t>
                      </a:r>
                    </a:p>
                  </a:txBody>
                  <a:tcPr marL="91440" marR="91440" marT="45720" marB="45720" anchor="ctr">
                    <a:solidFill>
                      <a:srgbClr val="F7F5F0"/>
                    </a:solidFill>
                  </a:tcPr>
                </a:tc>
                <a:tc>
                  <a:txBody>
                    <a:bodyPr lIns="190500" tIns="133350" rIns="171450" bIns="133350">
                      <a:noAutofit/>
                    </a:bodyPr>
                    <a:lstStyle/>
                    <a:p>
                      <a:r>
                        <a:rPr sz="2175" b="0">
                          <a:solidFill>
                            <a:srgbClr val="192638"/>
                          </a:solidFill>
                          <a:latin typeface="Apple SD Gothic Neo"/>
                          <a:ea typeface="Apple SD Gothic Neo"/>
                          <a:cs typeface="Apple SD Gothic Neo"/>
                        </a:rPr>
                        <a:t>두 OS의 일관된 동작</a:t>
                      </a:r>
                    </a:p>
                    <a:p>
                      <a:r>
                        <a:rPr sz="2175" b="0">
                          <a:solidFill>
                            <a:srgbClr val="192638"/>
                          </a:solidFill>
                          <a:latin typeface="Apple SD Gothic Neo"/>
                          <a:ea typeface="Apple SD Gothic Neo"/>
                          <a:cs typeface="Apple SD Gothic Neo"/>
                        </a:rPr>
                        <a:t>개발 비용</a:t>
                      </a:r>
                    </a:p>
                  </a:txBody>
                  <a:tcPr marL="91440" marR="91440" marT="45720" marB="45720" anchor="ctr">
                    <a:solidFill>
                      <a:srgbClr val="F7F5F0"/>
                    </a:solidFill>
                  </a:tcPr>
                </a:tc>
              </a:tr>
              <a:tr h="1066800">
                <a:tc>
                  <a:txBody>
                    <a:bodyPr lIns="190500" tIns="133350" rIns="171450" bIns="133350">
                      <a:noAutofit/>
                    </a:bodyPr>
                    <a:lstStyle/>
                    <a:p>
                      <a:r>
                        <a:rPr sz="2175" b="0">
                          <a:solidFill>
                            <a:srgbClr val="192638"/>
                          </a:solidFill>
                          <a:latin typeface="Apple SD Gothic Neo"/>
                          <a:ea typeface="Apple SD Gothic Neo"/>
                          <a:cs typeface="Apple SD Gothic Neo"/>
                        </a:rPr>
                        <a:t>백엔드</a:t>
                      </a:r>
                    </a:p>
                  </a:txBody>
                  <a:tcPr marL="91440" marR="91440" marT="45720" marB="45720" anchor="ctr">
                    <a:solidFill>
                      <a:srgbClr val="F7F5F0"/>
                    </a:solidFill>
                  </a:tcPr>
                </a:tc>
                <a:tc>
                  <a:txBody>
                    <a:bodyPr lIns="190500" tIns="133350" rIns="171450" bIns="133350">
                      <a:noAutofit/>
                    </a:bodyPr>
                    <a:lstStyle/>
                    <a:p>
                      <a:r>
                        <a:rPr sz="2175" b="0">
                          <a:solidFill>
                            <a:srgbClr val="192638"/>
                          </a:solidFill>
                          <a:latin typeface="Apple SD Gothic Neo"/>
                          <a:ea typeface="Apple SD Gothic Neo"/>
                          <a:cs typeface="Apple SD Gothic Neo"/>
                        </a:rPr>
                        <a:t>AI가 추천한</a:t>
                      </a:r>
                    </a:p>
                    <a:p>
                      <a:r>
                        <a:rPr sz="2175" b="0">
                          <a:solidFill>
                            <a:srgbClr val="192638"/>
                          </a:solidFill>
                          <a:latin typeface="Apple SD Gothic Neo"/>
                          <a:ea typeface="Apple SD Gothic Neo"/>
                          <a:cs typeface="Apple SD Gothic Neo"/>
                        </a:rPr>
                        <a:t>Next.js + Supabase</a:t>
                      </a:r>
                    </a:p>
                  </a:txBody>
                  <a:tcPr marL="91440" marR="91440" marT="45720" marB="45720" anchor="ctr">
                    <a:solidFill>
                      <a:srgbClr val="F7F5F0"/>
                    </a:solidFill>
                  </a:tcPr>
                </a:tc>
                <a:tc>
                  <a:txBody>
                    <a:bodyPr lIns="190500" tIns="133350" rIns="171450" bIns="133350">
                      <a:noAutofit/>
                    </a:bodyPr>
                    <a:lstStyle/>
                    <a:p>
                      <a:r>
                        <a:rPr sz="2175" b="0">
                          <a:solidFill>
                            <a:srgbClr val="192638"/>
                          </a:solidFill>
                          <a:latin typeface="Apple SD Gothic Neo"/>
                          <a:ea typeface="Apple SD Gothic Neo"/>
                          <a:cs typeface="Apple SD Gothic Neo"/>
                        </a:rPr>
                        <a:t>기술 구성의 단순함</a:t>
                      </a:r>
                    </a:p>
                    <a:p>
                      <a:r>
                        <a:rPr sz="2175" b="0">
                          <a:solidFill>
                            <a:srgbClr val="192638"/>
                          </a:solidFill>
                          <a:latin typeface="Apple SD Gothic Neo"/>
                          <a:ea typeface="Apple SD Gothic Neo"/>
                          <a:cs typeface="Apple SD Gothic Neo"/>
                        </a:rPr>
                        <a:t>서버 운영 비용</a:t>
                      </a:r>
                    </a:p>
                  </a:txBody>
                  <a:tcPr marL="91440" marR="91440" marT="45720" marB="45720" anchor="ctr">
                    <a:solidFill>
                      <a:srgbClr val="F7F5F0"/>
                    </a:solidFill>
                  </a:tcPr>
                </a:tc>
              </a:tr>
            </a:tbl>
          </a:graphicData>
        </a:graphic>
      </p:graphicFrame>
      <p:sp>
        <p:nvSpPr>
          <p:cNvPr id="4" name="">
            <a:extLst xmlns:a="http://schemas.openxmlformats.org/drawingml/2006/main">
              <a:ext uri="{FF2B5EF4-FFF2-40B4-BE49-F238E27FC236}">
                <a16:creationId xmlns:a16="http://schemas.microsoft.com/office/drawing/2014/main" id="{D32DBC31-8CCA-44B3-BB2A-368AACD7107C}"/>
              </a:ext>
            </a:extLst>
          </p:cNvPr>
          <p:cNvSpPr>
            <a:spLocks xmlns:a="http://schemas.openxmlformats.org/drawingml/2006/main" noGrp="1"/>
          </p:cNvSpPr>
          <p:nvPr/>
        </p:nvSpPr>
        <p:spPr>
          <a:xfrm xmlns:a="http://schemas.openxmlformats.org/drawingml/2006/main">
            <a:off x="723900" y="60102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171"/>
                </a:solidFill>
                <a:latin typeface="Apple SD Gothic Neo"/>
                <a:ea typeface="Apple SD Gothic Neo"/>
                <a:cs typeface="Apple SD Gothic Neo"/>
              </a:defRPr>
            </a:pPr>
            <a:r>
              <a:rPr sz="1725" b="0">
                <a:solidFill>
                  <a:srgbClr val="536171"/>
                </a:solidFill>
                <a:latin typeface="Apple SD Gothic Neo"/>
                <a:ea typeface="Apple SD Gothic Neo"/>
                <a:cs typeface="Apple SD Gothic Neo"/>
              </a:rPr>
              <a:t>대표는 내 설명보다 AI의 제안을 더 신뢰했다. RN은 React Native의 약자다.</a:t>
            </a:r>
          </a:p>
        </p:txBody>
      </p:sp>
    </p:spTree>
    <p:extLst>
      <p:ext uri="{BB962C8B-B14F-4D97-AF65-F5344CB8AC3E}">
        <p14:creationId xmlns:p14="http://schemas.microsoft.com/office/powerpoint/2010/main" val="1227755745"/>
      </p:ext>
    </p:extLst>
  </p:cSld>
</p:sld>
</file>

<file path=ppt/slides/slide1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A1855F-3826-4B7E-8754-59783590F768}"/>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삼성 엔지니어가 비판한 의사결정 구조</a:t>
            </a:r>
          </a:p>
        </p:txBody>
      </p:sp>
      <p:sp>
        <p:nvSpPr>
          <p:cNvPr id="2" name="">
            <a:extLst xmlns:a="http://schemas.openxmlformats.org/drawingml/2006/main">
              <a:ext uri="{FF2B5EF4-FFF2-40B4-BE49-F238E27FC236}">
                <a16:creationId xmlns:a16="http://schemas.microsoft.com/office/drawing/2014/main" id="{0B347D8F-8A94-41F1-A901-AEDC0D97838B}"/>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16</a:t>
            </a:r>
          </a:p>
        </p:txBody>
      </p:sp>
      <p:sp>
        <p:nvSpPr>
          <p:cNvPr id="3" name="">
            <a:extLst xmlns:a="http://schemas.openxmlformats.org/drawingml/2006/main">
              <a:ext uri="{FF2B5EF4-FFF2-40B4-BE49-F238E27FC236}">
                <a16:creationId xmlns:a16="http://schemas.microsoft.com/office/drawing/2014/main" id="{02A52D78-6009-4895-BE75-5A3A74550592}"/>
              </a:ext>
            </a:extLst>
          </p:cNvPr>
          <p:cNvSpPr>
            <a:spLocks xmlns:a="http://schemas.openxmlformats.org/drawingml/2006/main" noGrp="1"/>
          </p:cNvSpPr>
          <p:nvPr/>
        </p:nvSpPr>
        <p:spPr>
          <a:xfrm xmlns:a="http://schemas.openxmlformats.org/drawingml/2006/main">
            <a:off x="762000" y="21431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C7542C"/>
                </a:solidFill>
                <a:latin typeface="Apple SD Gothic Neo"/>
                <a:ea typeface="Apple SD Gothic Neo"/>
                <a:cs typeface="Apple SD Gothic Neo"/>
              </a:defRPr>
            </a:pPr>
            <a:r>
              <a:rPr sz="3525" b="1">
                <a:solidFill>
                  <a:srgbClr val="C7542C"/>
                </a:solidFill>
                <a:latin typeface="Apple SD Gothic Neo"/>
                <a:ea typeface="Apple SD Gothic Neo"/>
                <a:cs typeface="Apple SD Gothic Neo"/>
              </a:rPr>
              <a:t>“초등학생도 알아들을 수 있게 쓰라”</a:t>
            </a:r>
          </a:p>
        </p:txBody>
      </p:sp>
      <p:sp>
        <p:nvSpPr>
          <p:cNvPr id="4" name="">
            <a:extLst xmlns:a="http://schemas.openxmlformats.org/drawingml/2006/main">
              <a:ext uri="{FF2B5EF4-FFF2-40B4-BE49-F238E27FC236}">
                <a16:creationId xmlns:a16="http://schemas.microsoft.com/office/drawing/2014/main" id="{C7ED5892-2105-46C7-84EA-8C32D719D0C0}"/>
              </a:ext>
            </a:extLst>
          </p:cNvPr>
          <p:cNvSpPr>
            <a:spLocks xmlns:a="http://schemas.openxmlformats.org/drawingml/2006/main" noGrp="1"/>
          </p:cNvSpPr>
          <p:nvPr/>
        </p:nvSpPr>
        <p:spPr>
          <a:xfrm xmlns:a="http://schemas.openxmlformats.org/drawingml/2006/main">
            <a:off x="762000" y="333375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92638"/>
                </a:solidFill>
                <a:latin typeface="Apple SD Gothic Neo"/>
                <a:ea typeface="Apple SD Gothic Neo"/>
                <a:cs typeface="Apple SD Gothic Neo"/>
              </a:defRPr>
            </a:pPr>
            <a:r>
              <a:rPr sz="3150" b="1">
                <a:solidFill>
                  <a:srgbClr val="192638"/>
                </a:solidFill>
                <a:latin typeface="Apple SD Gothic Neo"/>
                <a:ea typeface="Apple SD Gothic Neo"/>
                <a:cs typeface="Apple SD Gothic Neo"/>
              </a:rPr>
              <a:t>기술적 이해가 부족한 경영진의 결정과</a:t>
            </a:r>
          </a:p>
          <a:p xmlns:a="http://schemas.openxmlformats.org/drawingml/2006/main">
            <a:pPr algn="l">
              <a:defRPr sz="3150" b="1">
                <a:solidFill>
                  <a:srgbClr val="192638"/>
                </a:solidFill>
                <a:latin typeface="Apple SD Gothic Neo"/>
                <a:ea typeface="Apple SD Gothic Neo"/>
                <a:cs typeface="Apple SD Gothic Neo"/>
              </a:defRPr>
            </a:pPr>
            <a:r>
              <a:rPr sz="3150" b="1">
                <a:solidFill>
                  <a:srgbClr val="192638"/>
                </a:solidFill>
                <a:latin typeface="Apple SD Gothic Neo"/>
                <a:ea typeface="Apple SD Gothic Neo"/>
                <a:cs typeface="Apple SD Gothic Neo"/>
              </a:rPr>
              <a:t>보고 과정에서 축소되는 위험을 비판</a:t>
            </a:r>
          </a:p>
        </p:txBody>
      </p:sp>
      <p:sp>
        <p:nvSpPr>
          <p:cNvPr id="5" name="">
            <a:extLst xmlns:a="http://schemas.openxmlformats.org/drawingml/2006/main">
              <a:ext uri="{FF2B5EF4-FFF2-40B4-BE49-F238E27FC236}">
                <a16:creationId xmlns:a16="http://schemas.microsoft.com/office/drawing/2014/main" id="{D7678857-087C-4366-9526-24D7083A5249}"/>
              </a:ext>
            </a:extLst>
          </p:cNvPr>
          <p:cNvSpPr>
            <a:spLocks xmlns:a="http://schemas.openxmlformats.org/drawingml/2006/main" noGrp="1"/>
          </p:cNvSpPr>
          <p:nvPr/>
        </p:nvSpPr>
        <p:spPr>
          <a:xfrm xmlns:a="http://schemas.openxmlformats.org/drawingml/2006/main">
            <a:off x="781050" y="51244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36171"/>
                </a:solidFill>
                <a:latin typeface="Apple SD Gothic Neo"/>
                <a:ea typeface="Apple SD Gothic Neo"/>
                <a:cs typeface="Apple SD Gothic Neo"/>
              </a:defRPr>
            </a:pPr>
            <a:r>
              <a:rPr sz="2175" b="0">
                <a:solidFill>
                  <a:srgbClr val="536171"/>
                </a:solidFill>
                <a:latin typeface="Apple SD Gothic Neo"/>
                <a:ea typeface="Apple SD Gothic Neo"/>
                <a:cs typeface="Apple SD Gothic Neo"/>
              </a:rPr>
              <a:t>삼성전자 반도체 부문 한 엔지니어의 경험과 견해</a:t>
            </a:r>
          </a:p>
        </p:txBody>
      </p:sp>
      <p:sp>
        <p:nvSpPr>
          <p:cNvPr id="6" name="">
            <a:extLst xmlns:a="http://schemas.openxmlformats.org/drawingml/2006/main">
              <a:ext uri="{FF2B5EF4-FFF2-40B4-BE49-F238E27FC236}">
                <a16:creationId xmlns:a16="http://schemas.microsoft.com/office/drawing/2014/main" id="{470C48B2-6946-4DE8-A042-166D166060B5}"/>
              </a:ext>
            </a:extLst>
          </p:cNvPr>
          <p:cNvSpPr>
            <a:spLocks xmlns:a="http://schemas.openxmlformats.org/drawingml/2006/main" noGrp="1"/>
          </p:cNvSpPr>
          <p:nvPr/>
        </p:nvSpPr>
        <p:spPr>
          <a:xfrm xmlns:a="http://schemas.openxmlformats.org/drawingml/2006/main">
            <a:off x="723900" y="60102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171"/>
                </a:solidFill>
                <a:latin typeface="Apple SD Gothic Neo"/>
                <a:ea typeface="Apple SD Gothic Neo"/>
                <a:cs typeface="Apple SD Gothic Neo"/>
              </a:defRPr>
            </a:pPr>
            <a:r>
              <a:rPr sz="1725" b="0">
                <a:solidFill>
                  <a:srgbClr val="536171"/>
                </a:solidFill>
                <a:latin typeface="Apple SD Gothic Neo"/>
                <a:ea typeface="Apple SD Gothic Neo"/>
                <a:cs typeface="Apple SD Gothic Neo"/>
              </a:rPr>
              <a:t>동아일보 딥다이브 인터뷰, 2024년 10월 18일</a:t>
            </a:r>
          </a:p>
        </p:txBody>
      </p:sp>
    </p:spTree>
    <p:extLst>
      <p:ext uri="{BB962C8B-B14F-4D97-AF65-F5344CB8AC3E}">
        <p14:creationId xmlns:p14="http://schemas.microsoft.com/office/powerpoint/2010/main" val="1499047841"/>
      </p:ext>
    </p:extLst>
  </p:cSld>
</p:sld>
</file>

<file path=ppt/slides/slide1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5BD1AF-3AA8-42E8-9695-9112A042ABDC}"/>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대표가 결정한 시스템 교체 일정</a:t>
            </a:r>
          </a:p>
        </p:txBody>
      </p:sp>
      <p:sp>
        <p:nvSpPr>
          <p:cNvPr id="2" name="">
            <a:extLst xmlns:a="http://schemas.openxmlformats.org/drawingml/2006/main">
              <a:ext uri="{FF2B5EF4-FFF2-40B4-BE49-F238E27FC236}">
                <a16:creationId xmlns:a16="http://schemas.microsoft.com/office/drawing/2014/main" id="{B08F5827-C9A1-46DC-BC7E-C0743C800FF4}"/>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17</a:t>
            </a:r>
          </a:p>
        </p:txBody>
      </p:sp>
      <p:sp>
        <p:nvSpPr>
          <p:cNvPr id="3" name="">
            <a:extLst xmlns:a="http://schemas.openxmlformats.org/drawingml/2006/main">
              <a:ext uri="{FF2B5EF4-FFF2-40B4-BE49-F238E27FC236}">
                <a16:creationId xmlns:a16="http://schemas.microsoft.com/office/drawing/2014/main" id="{E201CF63-C866-4F0D-9628-B037C64B4296}"/>
              </a:ext>
            </a:extLst>
          </p:cNvPr>
          <p:cNvSpPr>
            <a:spLocks xmlns:a="http://schemas.openxmlformats.org/drawingml/2006/main" noGrp="1"/>
          </p:cNvSpPr>
          <p:nvPr/>
        </p:nvSpPr>
        <p:spPr>
          <a:xfrm xmlns:a="http://schemas.openxmlformats.org/drawingml/2006/main">
            <a:off x="733425" y="1952625"/>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36171"/>
                </a:solidFill>
                <a:latin typeface="Apple SD Gothic Neo"/>
                <a:ea typeface="Apple SD Gothic Neo"/>
                <a:cs typeface="Apple SD Gothic Neo"/>
              </a:defRPr>
            </a:pPr>
            <a:r>
              <a:rPr sz="2175" b="0">
                <a:solidFill>
                  <a:srgbClr val="536171"/>
                </a:solidFill>
                <a:latin typeface="Apple SD Gothic Neo"/>
                <a:ea typeface="Apple SD Gothic Neo"/>
                <a:cs typeface="Apple SD Gothic Neo"/>
              </a:rPr>
              <a:t>내가 제안한 기간</a:t>
            </a:r>
          </a:p>
        </p:txBody>
      </p:sp>
      <p:sp>
        <p:nvSpPr>
          <p:cNvPr id="4" name="">
            <a:extLst xmlns:a="http://schemas.openxmlformats.org/drawingml/2006/main">
              <a:ext uri="{FF2B5EF4-FFF2-40B4-BE49-F238E27FC236}">
                <a16:creationId xmlns:a16="http://schemas.microsoft.com/office/drawing/2014/main" id="{0B1C3C90-2502-4DC5-A037-3FA98EA5A8E8}"/>
              </a:ext>
            </a:extLst>
          </p:cNvPr>
          <p:cNvSpPr>
            <a:spLocks xmlns:a="http://schemas.openxmlformats.org/drawingml/2006/main" noGrp="1"/>
          </p:cNvSpPr>
          <p:nvPr/>
        </p:nvSpPr>
        <p:spPr>
          <a:xfrm xmlns:a="http://schemas.openxmlformats.org/drawingml/2006/main">
            <a:off x="723900" y="2514600"/>
            <a:ext cx="46196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0" b="1">
                <a:solidFill>
                  <a:srgbClr val="192638"/>
                </a:solidFill>
                <a:latin typeface="Apple SD Gothic Neo"/>
                <a:ea typeface="Apple SD Gothic Neo"/>
                <a:cs typeface="Apple SD Gothic Neo"/>
              </a:defRPr>
            </a:pPr>
            <a:r>
              <a:rPr sz="7500" b="1">
                <a:solidFill>
                  <a:srgbClr val="192638"/>
                </a:solidFill>
                <a:latin typeface="Apple SD Gothic Neo"/>
                <a:ea typeface="Apple SD Gothic Neo"/>
                <a:cs typeface="Apple SD Gothic Neo"/>
              </a:rPr>
              <a:t>4주</a:t>
            </a:r>
          </a:p>
        </p:txBody>
      </p:sp>
      <p:sp>
        <p:nvSpPr>
          <p:cNvPr id="5" name="">
            <a:extLst xmlns:a="http://schemas.openxmlformats.org/drawingml/2006/main">
              <a:ext uri="{FF2B5EF4-FFF2-40B4-BE49-F238E27FC236}">
                <a16:creationId xmlns:a16="http://schemas.microsoft.com/office/drawing/2014/main" id="{2706D88C-E73F-4DBC-89C0-9985BF901B91}"/>
              </a:ext>
            </a:extLst>
          </p:cNvPr>
          <p:cNvSpPr>
            <a:spLocks xmlns:a="http://schemas.openxmlformats.org/drawingml/2006/main" noGrp="1"/>
          </p:cNvSpPr>
          <p:nvPr/>
        </p:nvSpPr>
        <p:spPr>
          <a:xfrm xmlns:a="http://schemas.openxmlformats.org/drawingml/2006/main">
            <a:off x="6496050" y="1952625"/>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36171"/>
                </a:solidFill>
                <a:latin typeface="Apple SD Gothic Neo"/>
                <a:ea typeface="Apple SD Gothic Neo"/>
                <a:cs typeface="Apple SD Gothic Neo"/>
              </a:defRPr>
            </a:pPr>
            <a:r>
              <a:rPr sz="2175" b="0">
                <a:solidFill>
                  <a:srgbClr val="536171"/>
                </a:solidFill>
                <a:latin typeface="Apple SD Gothic Neo"/>
                <a:ea typeface="Apple SD Gothic Neo"/>
                <a:cs typeface="Apple SD Gothic Neo"/>
              </a:rPr>
              <a:t>대표가 요구한 기간</a:t>
            </a:r>
          </a:p>
        </p:txBody>
      </p:sp>
      <p:sp>
        <p:nvSpPr>
          <p:cNvPr id="6" name="">
            <a:extLst xmlns:a="http://schemas.openxmlformats.org/drawingml/2006/main">
              <a:ext uri="{FF2B5EF4-FFF2-40B4-BE49-F238E27FC236}">
                <a16:creationId xmlns:a16="http://schemas.microsoft.com/office/drawing/2014/main" id="{B7C7D790-9A81-407F-B959-77F6F05A17C7}"/>
              </a:ext>
            </a:extLst>
          </p:cNvPr>
          <p:cNvSpPr>
            <a:spLocks xmlns:a="http://schemas.openxmlformats.org/drawingml/2006/main" noGrp="1"/>
          </p:cNvSpPr>
          <p:nvPr/>
        </p:nvSpPr>
        <p:spPr>
          <a:xfrm xmlns:a="http://schemas.openxmlformats.org/drawingml/2006/main">
            <a:off x="6486525" y="2514600"/>
            <a:ext cx="46196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0" b="1">
                <a:solidFill>
                  <a:srgbClr val="C7542C"/>
                </a:solidFill>
                <a:latin typeface="Apple SD Gothic Neo"/>
                <a:ea typeface="Apple SD Gothic Neo"/>
                <a:cs typeface="Apple SD Gothic Neo"/>
              </a:defRPr>
            </a:pPr>
            <a:r>
              <a:rPr sz="7500" b="1">
                <a:solidFill>
                  <a:srgbClr val="C7542C"/>
                </a:solidFill>
                <a:latin typeface="Apple SD Gothic Neo"/>
                <a:ea typeface="Apple SD Gothic Neo"/>
                <a:cs typeface="Apple SD Gothic Neo"/>
              </a:rPr>
              <a:t>2주</a:t>
            </a:r>
          </a:p>
        </p:txBody>
      </p:sp>
      <p:sp>
        <p:nvSpPr>
          <p:cNvPr id="7" name="">
            <a:extLst xmlns:a="http://schemas.openxmlformats.org/drawingml/2006/main">
              <a:ext uri="{FF2B5EF4-FFF2-40B4-BE49-F238E27FC236}">
                <a16:creationId xmlns:a16="http://schemas.microsoft.com/office/drawing/2014/main" id="{CEEED14B-BB7D-4674-8E5C-9CA01B080FF5}"/>
              </a:ext>
            </a:extLst>
          </p:cNvPr>
          <p:cNvSpPr>
            <a:spLocks xmlns:a="http://schemas.openxmlformats.org/drawingml/2006/main" noGrp="1"/>
          </p:cNvSpPr>
          <p:nvPr/>
        </p:nvSpPr>
        <p:spPr>
          <a:xfrm xmlns:a="http://schemas.openxmlformats.org/drawingml/2006/main">
            <a:off x="762000" y="4124325"/>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92638"/>
                </a:solidFill>
                <a:latin typeface="Apple SD Gothic Neo"/>
                <a:ea typeface="Apple SD Gothic Neo"/>
                <a:cs typeface="Apple SD Gothic Neo"/>
              </a:defRPr>
            </a:pPr>
            <a:r>
              <a:rPr sz="2850" b="0">
                <a:solidFill>
                  <a:srgbClr val="192638"/>
                </a:solidFill>
                <a:latin typeface="Apple SD Gothic Neo"/>
                <a:ea typeface="Apple SD Gothic Neo"/>
                <a:cs typeface="Apple SD Gothic Neo"/>
              </a:rPr>
              <a:t>배포 다음 날, 필요한 기능 누락으로 항의</a:t>
            </a:r>
          </a:p>
        </p:txBody>
      </p:sp>
      <p:sp>
        <p:nvSpPr>
          <p:cNvPr id="8" name="">
            <a:extLst xmlns:a="http://schemas.openxmlformats.org/drawingml/2006/main">
              <a:ext uri="{FF2B5EF4-FFF2-40B4-BE49-F238E27FC236}">
                <a16:creationId xmlns:a16="http://schemas.microsoft.com/office/drawing/2014/main" id="{3364A34E-F626-466C-812F-283BEE84A4DC}"/>
              </a:ext>
            </a:extLst>
          </p:cNvPr>
          <p:cNvSpPr>
            <a:spLocks xmlns:a="http://schemas.openxmlformats.org/drawingml/2006/main" noGrp="1"/>
          </p:cNvSpPr>
          <p:nvPr/>
        </p:nvSpPr>
        <p:spPr>
          <a:xfrm xmlns:a="http://schemas.openxmlformats.org/drawingml/2006/main">
            <a:off x="762000" y="502920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C7542C"/>
                </a:solidFill>
                <a:latin typeface="Apple SD Gothic Neo"/>
                <a:ea typeface="Apple SD Gothic Neo"/>
                <a:cs typeface="Apple SD Gothic Neo"/>
              </a:defRPr>
            </a:pPr>
            <a:r>
              <a:rPr sz="3375" b="1">
                <a:solidFill>
                  <a:srgbClr val="C7542C"/>
                </a:solidFill>
                <a:latin typeface="Apple SD Gothic Neo"/>
                <a:ea typeface="Apple SD Gothic Neo"/>
                <a:cs typeface="Apple SD Gothic Neo"/>
              </a:rPr>
              <a:t>반나절 만에 기존 시스템으로 복귀</a:t>
            </a:r>
          </a:p>
        </p:txBody>
      </p:sp>
    </p:spTree>
    <p:extLst>
      <p:ext uri="{BB962C8B-B14F-4D97-AF65-F5344CB8AC3E}">
        <p14:creationId xmlns:p14="http://schemas.microsoft.com/office/powerpoint/2010/main" val="1853208839"/>
      </p:ext>
    </p:extLst>
  </p:cSld>
</p:sld>
</file>

<file path=ppt/slides/slide1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573BB1-7041-43B3-BC66-8AE1421A0F30}"/>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청구하지 않던 요금이 발권을 막았다</a:t>
            </a:r>
          </a:p>
        </p:txBody>
      </p:sp>
      <p:sp>
        <p:nvSpPr>
          <p:cNvPr id="2" name="">
            <a:extLst xmlns:a="http://schemas.openxmlformats.org/drawingml/2006/main">
              <a:ext uri="{FF2B5EF4-FFF2-40B4-BE49-F238E27FC236}">
                <a16:creationId xmlns:a16="http://schemas.microsoft.com/office/drawing/2014/main" id="{26304EBA-E73C-4F4D-A630-780AFACD565D}"/>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18</a:t>
            </a:r>
          </a:p>
        </p:txBody>
      </p:sp>
      <p:sp>
        <p:nvSpPr>
          <p:cNvPr id="3" name="">
            <a:extLst xmlns:a="http://schemas.openxmlformats.org/drawingml/2006/main">
              <a:ext uri="{FF2B5EF4-FFF2-40B4-BE49-F238E27FC236}">
                <a16:creationId xmlns:a16="http://schemas.microsoft.com/office/drawing/2014/main" id="{27517729-721F-4FB6-A94F-72F4FB0A783A}"/>
              </a:ext>
            </a:extLst>
          </p:cNvPr>
          <p:cNvSpPr>
            <a:spLocks xmlns:a="http://schemas.openxmlformats.org/drawingml/2006/main" noGrp="1"/>
          </p:cNvSpPr>
          <p:nvPr/>
        </p:nvSpPr>
        <p:spPr>
          <a:xfrm xmlns:a="http://schemas.openxmlformats.org/drawingml/2006/main">
            <a:off x="723900" y="20478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청구한 적은 한 번도 없었다</a:t>
            </a:r>
          </a:p>
        </p:txBody>
      </p:sp>
      <p:sp>
        <p:nvSpPr>
          <p:cNvPr id="4" name="">
            <a:extLst xmlns:a="http://schemas.openxmlformats.org/drawingml/2006/main">
              <a:ext uri="{FF2B5EF4-FFF2-40B4-BE49-F238E27FC236}">
                <a16:creationId xmlns:a16="http://schemas.microsoft.com/office/drawing/2014/main" id="{ED9EEC64-5697-4B79-B457-3F3C478E1C57}"/>
              </a:ext>
            </a:extLst>
          </p:cNvPr>
          <p:cNvSpPr>
            <a:spLocks xmlns:a="http://schemas.openxmlformats.org/drawingml/2006/main" noGrp="1"/>
          </p:cNvSpPr>
          <p:nvPr/>
        </p:nvSpPr>
        <p:spPr>
          <a:xfrm xmlns:a="http://schemas.openxmlformats.org/drawingml/2006/main">
            <a:off x="771525" y="32099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536171"/>
                </a:solidFill>
                <a:latin typeface="Apple SD Gothic Neo"/>
                <a:ea typeface="Apple SD Gothic Neo"/>
                <a:cs typeface="Apple SD Gothic Neo"/>
              </a:defRPr>
            </a:pPr>
            <a:r>
              <a:rPr sz="2700" b="0">
                <a:solidFill>
                  <a:srgbClr val="536171"/>
                </a:solidFill>
                <a:latin typeface="Apple SD Gothic Neo"/>
                <a:ea typeface="Apple SD Gothic Neo"/>
                <a:cs typeface="Apple SD Gothic Neo"/>
              </a:rPr>
              <a:t>메시지 발송 때마다 충전금 차감</a:t>
            </a:r>
          </a:p>
        </p:txBody>
      </p:sp>
      <p:sp>
        <p:nvSpPr>
          <p:cNvPr id="5" name="">
            <a:extLst xmlns:a="http://schemas.openxmlformats.org/drawingml/2006/main">
              <a:ext uri="{FF2B5EF4-FFF2-40B4-BE49-F238E27FC236}">
                <a16:creationId xmlns:a16="http://schemas.microsoft.com/office/drawing/2014/main" id="{83AA5203-BE7B-4ABA-8CED-30C5C8E52EFB}"/>
              </a:ext>
            </a:extLst>
          </p:cNvPr>
          <p:cNvSpPr>
            <a:spLocks xmlns:a="http://schemas.openxmlformats.org/drawingml/2006/main" noGrp="1"/>
          </p:cNvSpPr>
          <p:nvPr/>
        </p:nvSpPr>
        <p:spPr>
          <a:xfrm xmlns:a="http://schemas.openxmlformats.org/drawingml/2006/main">
            <a:off x="771525" y="40576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536171"/>
                </a:solidFill>
                <a:latin typeface="Apple SD Gothic Neo"/>
                <a:ea typeface="Apple SD Gothic Neo"/>
                <a:cs typeface="Apple SD Gothic Neo"/>
              </a:defRPr>
            </a:pPr>
            <a:r>
              <a:rPr sz="2700" b="0">
                <a:solidFill>
                  <a:srgbClr val="536171"/>
                </a:solidFill>
                <a:latin typeface="Apple SD Gothic Neo"/>
                <a:ea typeface="Apple SD Gothic Neo"/>
                <a:cs typeface="Apple SD Gothic Neo"/>
              </a:rPr>
              <a:t>행사 중 충전 잔액 소진</a:t>
            </a:r>
          </a:p>
        </p:txBody>
      </p:sp>
      <p:sp>
        <p:nvSpPr>
          <p:cNvPr id="6" name="">
            <a:extLst xmlns:a="http://schemas.openxmlformats.org/drawingml/2006/main">
              <a:ext uri="{FF2B5EF4-FFF2-40B4-BE49-F238E27FC236}">
                <a16:creationId xmlns:a16="http://schemas.microsoft.com/office/drawing/2014/main" id="{B760B6D7-9F69-4D2D-B411-A25628558C8C}"/>
              </a:ext>
            </a:extLst>
          </p:cNvPr>
          <p:cNvSpPr>
            <a:spLocks xmlns:a="http://schemas.openxmlformats.org/drawingml/2006/main" noGrp="1"/>
          </p:cNvSpPr>
          <p:nvPr/>
        </p:nvSpPr>
        <p:spPr>
          <a:xfrm xmlns:a="http://schemas.openxmlformats.org/drawingml/2006/main">
            <a:off x="752475" y="50006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C7542C"/>
                </a:solidFill>
                <a:latin typeface="Apple SD Gothic Neo"/>
                <a:ea typeface="Apple SD Gothic Neo"/>
                <a:cs typeface="Apple SD Gothic Neo"/>
              </a:defRPr>
            </a:pPr>
            <a:r>
              <a:rPr sz="3825" b="1">
                <a:solidFill>
                  <a:srgbClr val="C7542C"/>
                </a:solidFill>
                <a:latin typeface="Apple SD Gothic Neo"/>
                <a:ea typeface="Apple SD Gothic Neo"/>
                <a:cs typeface="Apple SD Gothic Neo"/>
              </a:rPr>
              <a:t>키오스크가 멈추고 발권 중단</a:t>
            </a:r>
          </a:p>
        </p:txBody>
      </p:sp>
    </p:spTree>
    <p:extLst>
      <p:ext uri="{BB962C8B-B14F-4D97-AF65-F5344CB8AC3E}">
        <p14:creationId xmlns:p14="http://schemas.microsoft.com/office/powerpoint/2010/main" val="1709960868"/>
      </p:ext>
    </p:extLst>
  </p:cSld>
</p:sld>
</file>

<file path=ppt/slides/slide1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EC350F-4E52-4F28-A39D-1372F9781604}"/>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당장 쓰지 않을 기능도 부담으로 남았다</a:t>
            </a:r>
          </a:p>
        </p:txBody>
      </p:sp>
      <p:sp>
        <p:nvSpPr>
          <p:cNvPr id="2" name="">
            <a:extLst xmlns:a="http://schemas.openxmlformats.org/drawingml/2006/main">
              <a:ext uri="{FF2B5EF4-FFF2-40B4-BE49-F238E27FC236}">
                <a16:creationId xmlns:a16="http://schemas.microsoft.com/office/drawing/2014/main" id="{C1FBAD10-4096-480C-8F1B-B44C78B8EF0A}"/>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19</a:t>
            </a:r>
          </a:p>
        </p:txBody>
      </p:sp>
      <p:sp>
        <p:nvSpPr>
          <p:cNvPr id="3" name="">
            <a:extLst xmlns:a="http://schemas.openxmlformats.org/drawingml/2006/main">
              <a:ext uri="{FF2B5EF4-FFF2-40B4-BE49-F238E27FC236}">
                <a16:creationId xmlns:a16="http://schemas.microsoft.com/office/drawing/2014/main" id="{5332FDED-64C1-4819-B586-E3BFD4D1DEF2}"/>
              </a:ext>
            </a:extLst>
          </p:cNvPr>
          <p:cNvSpPr>
            <a:spLocks xmlns:a="http://schemas.openxmlformats.org/drawingml/2006/main" noGrp="1"/>
          </p:cNvSpPr>
          <p:nvPr/>
        </p:nvSpPr>
        <p:spPr>
          <a:xfrm xmlns:a="http://schemas.openxmlformats.org/drawingml/2006/main">
            <a:off x="742950" y="2038350"/>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C7542C"/>
                </a:solidFill>
                <a:latin typeface="Apple SD Gothic Neo"/>
                <a:ea typeface="Apple SD Gothic Neo"/>
                <a:cs typeface="Apple SD Gothic Neo"/>
              </a:defRPr>
            </a:pPr>
            <a:r>
              <a:rPr sz="2625" b="1">
                <a:solidFill>
                  <a:srgbClr val="C7542C"/>
                </a:solidFill>
                <a:latin typeface="Apple SD Gothic Neo"/>
                <a:ea typeface="Apple SD Gothic Neo"/>
                <a:cs typeface="Apple SD Gothic Neo"/>
              </a:rPr>
              <a:t>과금 기능 하나에 이어진 문제들</a:t>
            </a:r>
          </a:p>
        </p:txBody>
      </p:sp>
      <p:sp>
        <p:nvSpPr>
          <p:cNvPr id="4" name="">
            <a:extLst xmlns:a="http://schemas.openxmlformats.org/drawingml/2006/main">
              <a:ext uri="{FF2B5EF4-FFF2-40B4-BE49-F238E27FC236}">
                <a16:creationId xmlns:a16="http://schemas.microsoft.com/office/drawing/2014/main" id="{F27C0C61-B540-4CE1-9B94-E140C2A6071A}"/>
              </a:ext>
            </a:extLst>
          </p:cNvPr>
          <p:cNvSpPr>
            <a:spLocks xmlns:a="http://schemas.openxmlformats.org/drawingml/2006/main" noGrp="1"/>
          </p:cNvSpPr>
          <p:nvPr/>
        </p:nvSpPr>
        <p:spPr>
          <a:xfrm xmlns:a="http://schemas.openxmlformats.org/drawingml/2006/main">
            <a:off x="771525" y="307657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92638"/>
                </a:solidFill>
                <a:latin typeface="Apple SD Gothic Neo"/>
                <a:ea typeface="Apple SD Gothic Neo"/>
                <a:cs typeface="Apple SD Gothic Neo"/>
              </a:defRPr>
            </a:pPr>
            <a:r>
              <a:rPr sz="2700" b="0">
                <a:solidFill>
                  <a:srgbClr val="192638"/>
                </a:solidFill>
                <a:latin typeface="Apple SD Gothic Neo"/>
                <a:ea typeface="Apple SD Gothic Neo"/>
                <a:cs typeface="Apple SD Gothic Neo"/>
              </a:rPr>
              <a:t>키오스크는 잔액 부족의 원인을 보여 주지 못했다</a:t>
            </a:r>
          </a:p>
        </p:txBody>
      </p:sp>
      <p:sp>
        <p:nvSpPr>
          <p:cNvPr id="5" name="">
            <a:extLst xmlns:a="http://schemas.openxmlformats.org/drawingml/2006/main">
              <a:ext uri="{FF2B5EF4-FFF2-40B4-BE49-F238E27FC236}">
                <a16:creationId xmlns:a16="http://schemas.microsoft.com/office/drawing/2014/main" id="{51A51A71-18AF-49C9-B387-696E04FD0D37}"/>
              </a:ext>
            </a:extLst>
          </p:cNvPr>
          <p:cNvSpPr>
            <a:spLocks xmlns:a="http://schemas.openxmlformats.org/drawingml/2006/main" noGrp="1"/>
          </p:cNvSpPr>
          <p:nvPr/>
        </p:nvSpPr>
        <p:spPr>
          <a:xfrm xmlns:a="http://schemas.openxmlformats.org/drawingml/2006/main">
            <a:off x="771525" y="40005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92638"/>
                </a:solidFill>
                <a:latin typeface="Apple SD Gothic Neo"/>
                <a:ea typeface="Apple SD Gothic Neo"/>
                <a:cs typeface="Apple SD Gothic Neo"/>
              </a:defRPr>
            </a:pPr>
            <a:r>
              <a:rPr sz="2700" b="0">
                <a:solidFill>
                  <a:srgbClr val="192638"/>
                </a:solidFill>
                <a:latin typeface="Apple SD Gothic Neo"/>
                <a:ea typeface="Apple SD Gothic Neo"/>
                <a:cs typeface="Apple SD Gothic Neo"/>
              </a:rPr>
              <a:t>메시지를 보내는 모든 화면이 수정·검증 대상이 됐다</a:t>
            </a:r>
          </a:p>
        </p:txBody>
      </p:sp>
      <p:sp>
        <p:nvSpPr>
          <p:cNvPr id="6" name="">
            <a:extLst xmlns:a="http://schemas.openxmlformats.org/drawingml/2006/main">
              <a:ext uri="{FF2B5EF4-FFF2-40B4-BE49-F238E27FC236}">
                <a16:creationId xmlns:a16="http://schemas.microsoft.com/office/drawing/2014/main" id="{2CA58546-B90A-4EF1-92C4-A9A8097B3F0D}"/>
              </a:ext>
            </a:extLst>
          </p:cNvPr>
          <p:cNvSpPr>
            <a:spLocks xmlns:a="http://schemas.openxmlformats.org/drawingml/2006/main" noGrp="1"/>
          </p:cNvSpPr>
          <p:nvPr/>
        </p:nvSpPr>
        <p:spPr>
          <a:xfrm xmlns:a="http://schemas.openxmlformats.org/drawingml/2006/main">
            <a:off x="771525" y="492442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92638"/>
                </a:solidFill>
                <a:latin typeface="Apple SD Gothic Neo"/>
                <a:ea typeface="Apple SD Gothic Neo"/>
                <a:cs typeface="Apple SD Gothic Neo"/>
              </a:defRPr>
            </a:pPr>
            <a:r>
              <a:rPr sz="2700" b="0">
                <a:solidFill>
                  <a:srgbClr val="192638"/>
                </a:solidFill>
                <a:latin typeface="Apple SD Gothic Neo"/>
                <a:ea typeface="Apple SD Gothic Neo"/>
                <a:cs typeface="Apple SD Gothic Neo"/>
              </a:rPr>
              <a:t>메시지 별도 과금 자체도 이 서비스에는 맞지 않았다</a:t>
            </a:r>
          </a:p>
        </p:txBody>
      </p:sp>
    </p:spTree>
    <p:extLst>
      <p:ext uri="{BB962C8B-B14F-4D97-AF65-F5344CB8AC3E}">
        <p14:creationId xmlns:p14="http://schemas.microsoft.com/office/powerpoint/2010/main" val="2016905702"/>
      </p:ext>
    </p:extLst>
  </p:cSld>
</p:sld>
</file>

<file path=ppt/slides/slide2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D0EAE4A-CD80-46D7-B21E-0C5343BA5A8A}"/>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효율과 의욕이 함께 떨어졌다</a:t>
            </a:r>
          </a:p>
        </p:txBody>
      </p:sp>
      <p:sp>
        <p:nvSpPr>
          <p:cNvPr id="2" name="">
            <a:extLst xmlns:a="http://schemas.openxmlformats.org/drawingml/2006/main">
              <a:ext uri="{FF2B5EF4-FFF2-40B4-BE49-F238E27FC236}">
                <a16:creationId xmlns:a16="http://schemas.microsoft.com/office/drawing/2014/main" id="{D01D0607-ADE4-490B-BBC6-A396384779BD}"/>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20</a:t>
            </a:r>
          </a:p>
        </p:txBody>
      </p:sp>
      <p:sp>
        <p:nvSpPr>
          <p:cNvPr id="3" name="">
            <a:extLst xmlns:a="http://schemas.openxmlformats.org/drawingml/2006/main">
              <a:ext uri="{FF2B5EF4-FFF2-40B4-BE49-F238E27FC236}">
                <a16:creationId xmlns:a16="http://schemas.microsoft.com/office/drawing/2014/main" id="{1BB078F4-BD91-4C2D-B116-9DBDCF80FF67}"/>
              </a:ext>
            </a:extLst>
          </p:cNvPr>
          <p:cNvSpPr>
            <a:spLocks xmlns:a="http://schemas.openxmlformats.org/drawingml/2006/main" noGrp="1"/>
          </p:cNvSpPr>
          <p:nvPr/>
        </p:nvSpPr>
        <p:spPr>
          <a:xfrm xmlns:a="http://schemas.openxmlformats.org/drawingml/2006/main">
            <a:off x="723900" y="2124075"/>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92638"/>
                </a:solidFill>
                <a:latin typeface="Apple SD Gothic Neo"/>
                <a:ea typeface="Apple SD Gothic Neo"/>
                <a:cs typeface="Apple SD Gothic Neo"/>
              </a:defRPr>
            </a:pPr>
            <a:r>
              <a:rPr sz="3150" b="0">
                <a:solidFill>
                  <a:srgbClr val="192638"/>
                </a:solidFill>
                <a:latin typeface="Apple SD Gothic Neo"/>
                <a:ea typeface="Apple SD Gothic Neo"/>
                <a:cs typeface="Apple SD Gothic Neo"/>
              </a:rPr>
              <a:t>대표가 기능을 추가할 때마다</a:t>
            </a:r>
          </a:p>
        </p:txBody>
      </p:sp>
      <p:sp>
        <p:nvSpPr>
          <p:cNvPr id="4" name="">
            <a:extLst xmlns:a="http://schemas.openxmlformats.org/drawingml/2006/main">
              <a:ext uri="{FF2B5EF4-FFF2-40B4-BE49-F238E27FC236}">
                <a16:creationId xmlns:a16="http://schemas.microsoft.com/office/drawing/2014/main" id="{844668EB-15CD-423F-B88E-93F3FBB09076}"/>
              </a:ext>
            </a:extLst>
          </p:cNvPr>
          <p:cNvSpPr>
            <a:spLocks xmlns:a="http://schemas.openxmlformats.org/drawingml/2006/main" noGrp="1"/>
          </p:cNvSpPr>
          <p:nvPr/>
        </p:nvSpPr>
        <p:spPr>
          <a:xfrm xmlns:a="http://schemas.openxmlformats.org/drawingml/2006/main">
            <a:off x="723900" y="3038475"/>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C7542C"/>
                </a:solidFill>
                <a:latin typeface="Apple SD Gothic Neo"/>
                <a:ea typeface="Apple SD Gothic Neo"/>
                <a:cs typeface="Apple SD Gothic Neo"/>
              </a:defRPr>
            </a:pPr>
            <a:r>
              <a:rPr sz="3825" b="1">
                <a:solidFill>
                  <a:srgbClr val="C7542C"/>
                </a:solidFill>
                <a:latin typeface="Apple SD Gothic Neo"/>
                <a:ea typeface="Apple SD Gothic Neo"/>
                <a:cs typeface="Apple SD Gothic Neo"/>
              </a:rPr>
              <a:t>내 후속 작업도 계속 늘어났다</a:t>
            </a:r>
          </a:p>
        </p:txBody>
      </p:sp>
      <p:sp>
        <p:nvSpPr>
          <p:cNvPr id="5" name="">
            <a:extLst xmlns:a="http://schemas.openxmlformats.org/drawingml/2006/main">
              <a:ext uri="{FF2B5EF4-FFF2-40B4-BE49-F238E27FC236}">
                <a16:creationId xmlns:a16="http://schemas.microsoft.com/office/drawing/2014/main" id="{E2B55A1A-2836-48F6-A487-5E0D1234B22D}"/>
              </a:ext>
            </a:extLst>
          </p:cNvPr>
          <p:cNvSpPr>
            <a:spLocks xmlns:a="http://schemas.openxmlformats.org/drawingml/2006/main" noGrp="1"/>
          </p:cNvSpPr>
          <p:nvPr/>
        </p:nvSpPr>
        <p:spPr>
          <a:xfrm xmlns:a="http://schemas.openxmlformats.org/drawingml/2006/main">
            <a:off x="771525" y="4448175"/>
            <a:ext cx="105727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536171"/>
                </a:solidFill>
                <a:latin typeface="Apple SD Gothic Neo"/>
                <a:ea typeface="Apple SD Gothic Neo"/>
                <a:cs typeface="Apple SD Gothic Neo"/>
              </a:defRPr>
            </a:pPr>
            <a:r>
              <a:rPr sz="2925" b="0">
                <a:solidFill>
                  <a:srgbClr val="536171"/>
                </a:solidFill>
                <a:latin typeface="Apple SD Gothic Neo"/>
                <a:ea typeface="Apple SD Gothic Neo"/>
                <a:cs typeface="Apple SD Gothic Neo"/>
              </a:rPr>
              <a:t>기술적 우려를 설명해도</a:t>
            </a:r>
          </a:p>
          <a:p xmlns:a="http://schemas.openxmlformats.org/drawingml/2006/main">
            <a:pPr algn="l">
              <a:defRPr sz="2925" b="0">
                <a:solidFill>
                  <a:srgbClr val="536171"/>
                </a:solidFill>
                <a:latin typeface="Apple SD Gothic Neo"/>
                <a:ea typeface="Apple SD Gothic Neo"/>
                <a:cs typeface="Apple SD Gothic Neo"/>
              </a:defRPr>
            </a:pPr>
            <a:r>
              <a:rPr sz="2925" b="0">
                <a:solidFill>
                  <a:srgbClr val="536171"/>
                </a:solidFill>
                <a:latin typeface="Apple SD Gothic Neo"/>
                <a:ea typeface="Apple SD Gothic Neo"/>
                <a:cs typeface="Apple SD Gothic Neo"/>
              </a:rPr>
              <a:t>함께 개발 방향을 정하기는 어려웠다.</a:t>
            </a:r>
          </a:p>
        </p:txBody>
      </p:sp>
    </p:spTree>
    <p:extLst>
      <p:ext uri="{BB962C8B-B14F-4D97-AF65-F5344CB8AC3E}">
        <p14:creationId xmlns:p14="http://schemas.microsoft.com/office/powerpoint/2010/main" val="157959209"/>
      </p:ext>
    </p:extLst>
  </p:cSld>
</p:sld>
</file>

<file path=ppt/slides/slide21.xml><?xml version="1.0" encoding="utf-8"?>
<p:sld xmlns:p="http://schemas.openxmlformats.org/presentationml/2006/main">
  <p:cSld>
    <p:bg>
      <p:bgPr>
        <a:solidFill xmlns:a="http://schemas.openxmlformats.org/drawingml/2006/main">
          <a:srgbClr val="14233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CE1399-1EE4-4C68-9C23-37D71E26AC5E}"/>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BC8D0"/>
                </a:solidFill>
                <a:latin typeface="Apple SD Gothic Neo"/>
                <a:ea typeface="Apple SD Gothic Neo"/>
                <a:cs typeface="Apple SD Gothic Neo"/>
              </a:defRPr>
            </a:pPr>
            <a:r>
              <a:rPr sz="1425" b="0">
                <a:solidFill>
                  <a:srgbClr val="BBC8D0"/>
                </a:solidFill>
                <a:latin typeface="Apple SD Gothic Neo"/>
                <a:ea typeface="Apple SD Gothic Neo"/>
                <a:cs typeface="Apple SD Gothic Neo"/>
              </a:rPr>
              <a:t>21</a:t>
            </a:r>
          </a:p>
        </p:txBody>
      </p:sp>
      <p:sp>
        <p:nvSpPr>
          <p:cNvPr id="2" name="">
            <a:extLst xmlns:a="http://schemas.openxmlformats.org/drawingml/2006/main">
              <a:ext uri="{FF2B5EF4-FFF2-40B4-BE49-F238E27FC236}">
                <a16:creationId xmlns:a16="http://schemas.microsoft.com/office/drawing/2014/main" id="{32BBD960-15B8-483D-9624-D55F5CFA2E68}"/>
              </a:ext>
            </a:extLst>
          </p:cNvPr>
          <p:cNvSpPr>
            <a:spLocks xmlns:a="http://schemas.openxmlformats.org/drawingml/2006/main" noGrp="1"/>
          </p:cNvSpPr>
          <p:nvPr/>
        </p:nvSpPr>
        <p:spPr>
          <a:xfrm xmlns:a="http://schemas.openxmlformats.org/drawingml/2006/main">
            <a:off x="723900" y="1276350"/>
            <a:ext cx="1066800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FFFFFF"/>
                </a:solidFill>
                <a:latin typeface="Apple SD Gothic Neo"/>
                <a:ea typeface="Apple SD Gothic Neo"/>
                <a:cs typeface="Apple SD Gothic Neo"/>
              </a:defRPr>
            </a:pPr>
            <a:r>
              <a:rPr sz="5250" b="1">
                <a:solidFill>
                  <a:srgbClr val="FFFFFF"/>
                </a:solidFill>
                <a:latin typeface="Apple SD Gothic Neo"/>
                <a:ea typeface="Apple SD Gothic Neo"/>
                <a:cs typeface="Apple SD Gothic Neo"/>
              </a:rPr>
              <a:t>서로의 전문 영역을</a:t>
            </a:r>
          </a:p>
          <a:p xmlns:a="http://schemas.openxmlformats.org/drawingml/2006/main">
            <a:pPr algn="l">
              <a:defRPr sz="5250" b="1">
                <a:solidFill>
                  <a:srgbClr val="FFFFFF"/>
                </a:solidFill>
                <a:latin typeface="Apple SD Gothic Neo"/>
                <a:ea typeface="Apple SD Gothic Neo"/>
                <a:cs typeface="Apple SD Gothic Neo"/>
              </a:defRPr>
            </a:pPr>
            <a:r>
              <a:rPr sz="5250" b="1">
                <a:solidFill>
                  <a:srgbClr val="FFFFFF"/>
                </a:solidFill>
                <a:latin typeface="Apple SD Gothic Neo"/>
                <a:ea typeface="Apple SD Gothic Neo"/>
                <a:cs typeface="Apple SD Gothic Neo"/>
              </a:rPr>
              <a:t>존중해야 한다</a:t>
            </a:r>
          </a:p>
        </p:txBody>
      </p:sp>
      <p:sp>
        <p:nvSpPr>
          <p:cNvPr id="3" name="">
            <a:extLst xmlns:a="http://schemas.openxmlformats.org/drawingml/2006/main">
              <a:ext uri="{FF2B5EF4-FFF2-40B4-BE49-F238E27FC236}">
                <a16:creationId xmlns:a16="http://schemas.microsoft.com/office/drawing/2014/main" id="{BF54E60C-6827-463F-8130-18415C24F8D0}"/>
              </a:ext>
            </a:extLst>
          </p:cNvPr>
          <p:cNvSpPr>
            <a:spLocks xmlns:a="http://schemas.openxmlformats.org/drawingml/2006/main" noGrp="1"/>
          </p:cNvSpPr>
          <p:nvPr/>
        </p:nvSpPr>
        <p:spPr>
          <a:xfrm xmlns:a="http://schemas.openxmlformats.org/drawingml/2006/main">
            <a:off x="781050" y="3800475"/>
            <a:ext cx="10668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BBC8D0"/>
                </a:solidFill>
                <a:latin typeface="Apple SD Gothic Neo"/>
                <a:ea typeface="Apple SD Gothic Neo"/>
                <a:cs typeface="Apple SD Gothic Neo"/>
              </a:defRPr>
            </a:pPr>
            <a:r>
              <a:rPr sz="2700" b="0">
                <a:solidFill>
                  <a:srgbClr val="BBC8D0"/>
                </a:solidFill>
                <a:latin typeface="Apple SD Gothic Neo"/>
                <a:ea typeface="Apple SD Gothic Neo"/>
                <a:cs typeface="Apple SD Gothic Neo"/>
              </a:rPr>
              <a:t>개발자는 사업의 요구를 이해하고</a:t>
            </a:r>
          </a:p>
          <a:p xmlns:a="http://schemas.openxmlformats.org/drawingml/2006/main">
            <a:pPr algn="l">
              <a:defRPr sz="2700" b="0">
                <a:solidFill>
                  <a:srgbClr val="BBC8D0"/>
                </a:solidFill>
                <a:latin typeface="Apple SD Gothic Neo"/>
                <a:ea typeface="Apple SD Gothic Neo"/>
                <a:cs typeface="Apple SD Gothic Neo"/>
              </a:defRPr>
            </a:pPr>
            <a:r>
              <a:rPr sz="2700" b="0">
                <a:solidFill>
                  <a:srgbClr val="BBC8D0"/>
                </a:solidFill>
                <a:latin typeface="Apple SD Gothic Neo"/>
                <a:ea typeface="Apple SD Gothic Neo"/>
                <a:cs typeface="Apple SD Gothic Neo"/>
              </a:rPr>
              <a:t>대표는 기술적 판단과 검증 결과를 결정에 반영해야 한다.</a:t>
            </a:r>
          </a:p>
        </p:txBody>
      </p:sp>
      <p:sp>
        <p:nvSpPr>
          <p:cNvPr id="4" name="">
            <a:extLst xmlns:a="http://schemas.openxmlformats.org/drawingml/2006/main">
              <a:ext uri="{FF2B5EF4-FFF2-40B4-BE49-F238E27FC236}">
                <a16:creationId xmlns:a16="http://schemas.microsoft.com/office/drawing/2014/main" id="{2CFB6C59-B1DE-4ED8-B74E-73C95B5FAACB}"/>
              </a:ext>
            </a:extLst>
          </p:cNvPr>
          <p:cNvSpPr>
            <a:spLocks xmlns:a="http://schemas.openxmlformats.org/drawingml/2006/main" noGrp="1"/>
          </p:cNvSpPr>
          <p:nvPr/>
        </p:nvSpPr>
        <p:spPr>
          <a:xfrm xmlns:a="http://schemas.openxmlformats.org/drawingml/2006/main">
            <a:off x="781050" y="565785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pple SD Gothic Neo"/>
                <a:ea typeface="Apple SD Gothic Neo"/>
                <a:cs typeface="Apple SD Gothic Neo"/>
              </a:defRPr>
            </a:pPr>
            <a:r>
              <a:rPr sz="2400" b="0">
                <a:solidFill>
                  <a:srgbClr val="FFFFFF"/>
                </a:solidFill>
                <a:latin typeface="Apple SD Gothic Neo"/>
                <a:ea typeface="Apple SD Gothic Neo"/>
                <a:cs typeface="Apple SD Gothic Neo"/>
              </a:rPr>
              <a:t>협력 관계는 어느 한쪽만의 노력으로 만들 수 없다.</a:t>
            </a:r>
          </a:p>
        </p:txBody>
      </p:sp>
    </p:spTree>
    <p:extLst>
      <p:ext uri="{BB962C8B-B14F-4D97-AF65-F5344CB8AC3E}">
        <p14:creationId xmlns:p14="http://schemas.microsoft.com/office/powerpoint/2010/main" val="1389826886"/>
      </p:ext>
    </p:extLst>
  </p:cSld>
</p:sld>
</file>

<file path=ppt/slides/slide22.xml><?xml version="1.0" encoding="utf-8"?>
<p:sld xmlns:p="http://schemas.openxmlformats.org/presentationml/2006/main">
  <p:cSld>
    <p:bg>
      <p:bgPr>
        <a:solidFill xmlns:a="http://schemas.openxmlformats.org/drawingml/2006/main">
          <a:srgbClr val="14233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B38620-51B8-4EF4-82DD-C8F1BB86A40D}"/>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BBC8D0"/>
                </a:solidFill>
                <a:latin typeface="Apple SD Gothic Neo"/>
                <a:ea typeface="Apple SD Gothic Neo"/>
                <a:cs typeface="Apple SD Gothic Neo"/>
              </a:defRPr>
            </a:pPr>
            <a:r>
              <a:rPr sz="1425" b="0">
                <a:solidFill>
                  <a:srgbClr val="BBC8D0"/>
                </a:solidFill>
                <a:latin typeface="Apple SD Gothic Neo"/>
                <a:ea typeface="Apple SD Gothic Neo"/>
                <a:cs typeface="Apple SD Gothic Neo"/>
              </a:rPr>
              <a:t>22</a:t>
            </a:r>
          </a:p>
        </p:txBody>
      </p:sp>
      <p:sp>
        <p:nvSpPr>
          <p:cNvPr id="2" name="">
            <a:extLst xmlns:a="http://schemas.openxmlformats.org/drawingml/2006/main">
              <a:ext uri="{FF2B5EF4-FFF2-40B4-BE49-F238E27FC236}">
                <a16:creationId xmlns:a16="http://schemas.microsoft.com/office/drawing/2014/main" id="{1A164448-8CED-488E-80FA-11043960A397}"/>
              </a:ext>
            </a:extLst>
          </p:cNvPr>
          <p:cNvSpPr>
            <a:spLocks xmlns:a="http://schemas.openxmlformats.org/drawingml/2006/main" noGrp="1"/>
          </p:cNvSpPr>
          <p:nvPr/>
        </p:nvSpPr>
        <p:spPr>
          <a:xfrm xmlns:a="http://schemas.openxmlformats.org/drawingml/2006/main">
            <a:off x="723900" y="1704975"/>
            <a:ext cx="10668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150" b="1">
                <a:solidFill>
                  <a:srgbClr val="FFFFFF"/>
                </a:solidFill>
                <a:latin typeface="Apple SD Gothic Neo"/>
                <a:ea typeface="Apple SD Gothic Neo"/>
                <a:cs typeface="Apple SD Gothic Neo"/>
              </a:defRPr>
            </a:pPr>
            <a:r>
              <a:rPr sz="6150" b="1">
                <a:solidFill>
                  <a:srgbClr val="FFFFFF"/>
                </a:solidFill>
                <a:latin typeface="Apple SD Gothic Neo"/>
                <a:ea typeface="Apple SD Gothic Neo"/>
                <a:cs typeface="Apple SD Gothic Neo"/>
              </a:rPr>
              <a:t>질문과 대화</a:t>
            </a:r>
          </a:p>
        </p:txBody>
      </p:sp>
      <p:sp>
        <p:nvSpPr>
          <p:cNvPr id="3" name="">
            <a:extLst xmlns:a="http://schemas.openxmlformats.org/drawingml/2006/main">
              <a:ext uri="{FF2B5EF4-FFF2-40B4-BE49-F238E27FC236}">
                <a16:creationId xmlns:a16="http://schemas.microsoft.com/office/drawing/2014/main" id="{66E2F537-7F9A-4AD9-961D-FC504B6578CC}"/>
              </a:ext>
            </a:extLst>
          </p:cNvPr>
          <p:cNvSpPr>
            <a:spLocks xmlns:a="http://schemas.openxmlformats.org/drawingml/2006/main" noGrp="1"/>
          </p:cNvSpPr>
          <p:nvPr/>
        </p:nvSpPr>
        <p:spPr>
          <a:xfrm xmlns:a="http://schemas.openxmlformats.org/drawingml/2006/main">
            <a:off x="762000" y="3248025"/>
            <a:ext cx="10477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BBC8D0"/>
                </a:solidFill>
                <a:latin typeface="Apple SD Gothic Neo"/>
                <a:ea typeface="Apple SD Gothic Neo"/>
                <a:cs typeface="Apple SD Gothic Neo"/>
              </a:defRPr>
            </a:pPr>
            <a:r>
              <a:rPr sz="3150" b="0">
                <a:solidFill>
                  <a:srgbClr val="BBC8D0"/>
                </a:solidFill>
                <a:latin typeface="Apple SD Gothic Neo"/>
                <a:ea typeface="Apple SD Gothic Neo"/>
                <a:cs typeface="Apple SD Gothic Neo"/>
              </a:rPr>
              <a:t>여러분은 어떤 경험을 하셨나요?</a:t>
            </a:r>
          </a:p>
        </p:txBody>
      </p:sp>
      <p:sp>
        <p:nvSpPr>
          <p:cNvPr id="4" name="">
            <a:extLst xmlns:a="http://schemas.openxmlformats.org/drawingml/2006/main">
              <a:ext uri="{FF2B5EF4-FFF2-40B4-BE49-F238E27FC236}">
                <a16:creationId xmlns:a16="http://schemas.microsoft.com/office/drawing/2014/main" id="{1547B929-957E-4E28-9A2B-F38DD7320056}"/>
              </a:ext>
            </a:extLst>
          </p:cNvPr>
          <p:cNvSpPr>
            <a:spLocks xmlns:a="http://schemas.openxmlformats.org/drawingml/2006/main" noGrp="1"/>
          </p:cNvSpPr>
          <p:nvPr/>
        </p:nvSpPr>
        <p:spPr>
          <a:xfrm xmlns:a="http://schemas.openxmlformats.org/drawingml/2006/main">
            <a:off x="762000" y="45434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FFFFFF"/>
                </a:solidFill>
                <a:latin typeface="Apple SD Gothic Neo"/>
                <a:ea typeface="Apple SD Gothic Neo"/>
                <a:cs typeface="Apple SD Gothic Neo"/>
              </a:defRPr>
            </a:pPr>
            <a:r>
              <a:rPr sz="2475" b="0">
                <a:solidFill>
                  <a:srgbClr val="FFFFFF"/>
                </a:solidFill>
                <a:latin typeface="Apple SD Gothic Neo"/>
                <a:ea typeface="Apple SD Gothic Neo"/>
                <a:cs typeface="Apple SD Gothic Neo"/>
              </a:rPr>
              <a:t>구체적인 방법과 해결 사례는 2편에서 이어갑니다.</a:t>
            </a:r>
          </a:p>
        </p:txBody>
      </p:sp>
      <p:sp>
        <p:nvSpPr>
          <p:cNvPr id="5" name="">
            <a:extLst xmlns:a="http://schemas.openxmlformats.org/drawingml/2006/main">
              <a:ext uri="{FF2B5EF4-FFF2-40B4-BE49-F238E27FC236}">
                <a16:creationId xmlns:a16="http://schemas.microsoft.com/office/drawing/2014/main" id="{0A6F639D-24BD-45D3-B2CF-651D77B01841}"/>
              </a:ext>
            </a:extLst>
          </p:cNvPr>
          <p:cNvSpPr>
            <a:spLocks xmlns:a="http://schemas.openxmlformats.org/drawingml/2006/main" noGrp="1"/>
          </p:cNvSpPr>
          <p:nvPr/>
        </p:nvSpPr>
        <p:spPr>
          <a:xfrm xmlns:a="http://schemas.openxmlformats.org/drawingml/2006/main">
            <a:off x="781050" y="59531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BC8D0"/>
                </a:solidFill>
                <a:latin typeface="Apple SD Gothic Neo"/>
                <a:ea typeface="Apple SD Gothic Neo"/>
                <a:cs typeface="Apple SD Gothic Neo"/>
              </a:defRPr>
            </a:pPr>
            <a:r>
              <a:rPr sz="2025" b="0">
                <a:solidFill>
                  <a:srgbClr val="BBC8D0"/>
                </a:solidFill>
                <a:latin typeface="Apple SD Gothic Neo"/>
                <a:ea typeface="Apple SD Gothic Neo"/>
                <a:cs typeface="Apple SD Gothic Neo"/>
                <a:hlinkClick xmlns:r="http://schemas.openxmlformats.org/officeDocument/2006/relationships" r:id="Rce8afd46499d45b6"/>
              </a:rPr>
              <a:t>원문 읽기  mannercode.com</a:t>
            </a:r>
          </a:p>
        </p:txBody>
      </p:sp>
    </p:spTree>
    <p:extLst>
      <p:ext uri="{BB962C8B-B14F-4D97-AF65-F5344CB8AC3E}">
        <p14:creationId xmlns:p14="http://schemas.microsoft.com/office/powerpoint/2010/main" val="1825905261"/>
      </p:ext>
    </p:extLst>
  </p:cSld>
</p:sld>
</file>

<file path=ppt/slides/slide2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204EA4-45E1-4FC0-A05B-1C02066E93E9}"/>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참고. 당시의 기술 선택 판단</a:t>
            </a:r>
          </a:p>
        </p:txBody>
      </p:sp>
      <p:sp>
        <p:nvSpPr>
          <p:cNvPr id="2" name="">
            <a:extLst xmlns:a="http://schemas.openxmlformats.org/drawingml/2006/main">
              <a:ext uri="{FF2B5EF4-FFF2-40B4-BE49-F238E27FC236}">
                <a16:creationId xmlns:a16="http://schemas.microsoft.com/office/drawing/2014/main" id="{D1BADC35-B557-4FA7-9AA1-AA232AEFAC7C}"/>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23</a:t>
            </a:r>
          </a:p>
        </p:txBody>
      </p:sp>
      <p:graphicFrame>
        <p:nvGraphicFramePr>
          <p:cNvPr id="7" name=""/>
          <p:cNvGraphicFramePr/>
          <p:nvPr/>
        </p:nvGraphicFramePr>
        <p:xfrm>
          <a:off xmlns:a="http://schemas.openxmlformats.org/drawingml/2006/main" x="723900" y="2038350"/>
          <a:ext xmlns:a="http://schemas.openxmlformats.org/drawingml/2006/main" cx="10744200" cy="3657600"/>
        </p:xfrm>
        <a:graphic xmlns:a="http://schemas.openxmlformats.org/drawingml/2006/main">
          <a:graphicData uri="http://schemas.openxmlformats.org/drawingml/2006/table">
            <a:tbl>
              <a:tblPr firstRow="0" bandRow="0"/>
              <a:tblGrid>
                <a:gridCol w="2400300"/>
                <a:gridCol w="3333750"/>
                <a:gridCol w="5010150"/>
              </a:tblGrid>
              <a:tr h="571500">
                <a:tc>
                  <a:txBody>
                    <a:bodyPr lIns="190500" tIns="133350" rIns="171450" bIns="133350">
                      <a:noAutofit/>
                    </a:bodyPr>
                    <a:lstStyle/>
                    <a:p>
                      <a:r>
                        <a:rPr sz="2100" b="1">
                          <a:solidFill>
                            <a:srgbClr val="FFFFFF"/>
                          </a:solidFill>
                          <a:latin typeface="Apple SD Gothic Neo"/>
                          <a:ea typeface="Apple SD Gothic Neo"/>
                          <a:cs typeface="Apple SD Gothic Neo"/>
                        </a:rPr>
                        <a:t>대상</a:t>
                      </a:r>
                    </a:p>
                  </a:txBody>
                  <a:tcPr marL="91440" marR="91440" marT="45720" marB="45720" anchor="ctr">
                    <a:solidFill>
                      <a:srgbClr val="142333"/>
                    </a:solidFill>
                  </a:tcPr>
                </a:tc>
                <a:tc>
                  <a:txBody>
                    <a:bodyPr lIns="190500" tIns="133350" rIns="171450" bIns="133350">
                      <a:noAutofit/>
                    </a:bodyPr>
                    <a:lstStyle/>
                    <a:p>
                      <a:r>
                        <a:rPr sz="2100" b="1">
                          <a:solidFill>
                            <a:srgbClr val="FFFFFF"/>
                          </a:solidFill>
                          <a:latin typeface="Apple SD Gothic Neo"/>
                          <a:ea typeface="Apple SD Gothic Neo"/>
                          <a:cs typeface="Apple SD Gothic Neo"/>
                        </a:rPr>
                        <a:t>내가 고려한 선택</a:t>
                      </a:r>
                    </a:p>
                  </a:txBody>
                  <a:tcPr marL="91440" marR="91440" marT="45720" marB="45720" anchor="ctr">
                    <a:solidFill>
                      <a:srgbClr val="142333"/>
                    </a:solidFill>
                  </a:tcPr>
                </a:tc>
                <a:tc>
                  <a:txBody>
                    <a:bodyPr lIns="190500" tIns="133350" rIns="171450" bIns="133350">
                      <a:noAutofit/>
                    </a:bodyPr>
                    <a:lstStyle/>
                    <a:p>
                      <a:r>
                        <a:rPr sz="2100" b="1">
                          <a:solidFill>
                            <a:srgbClr val="FFFFFF"/>
                          </a:solidFill>
                          <a:latin typeface="Apple SD Gothic Neo"/>
                          <a:ea typeface="Apple SD Gothic Neo"/>
                          <a:cs typeface="Apple SD Gothic Neo"/>
                        </a:rPr>
                        <a:t>당시 판단의 근거</a:t>
                      </a:r>
                    </a:p>
                  </a:txBody>
                  <a:tcPr marL="91440" marR="91440" marT="45720" marB="45720" anchor="ctr">
                    <a:solidFill>
                      <a:srgbClr val="142333"/>
                    </a:solidFill>
                  </a:tcPr>
                </a:tc>
              </a:tr>
              <a:tr h="1009650">
                <a:tc>
                  <a:txBody>
                    <a:bodyPr lIns="190500" tIns="133350" rIns="171450" bIns="133350">
                      <a:noAutofit/>
                    </a:bodyPr>
                    <a:lstStyle/>
                    <a:p>
                      <a:r>
                        <a:rPr sz="2175" b="0">
                          <a:solidFill>
                            <a:srgbClr val="192638"/>
                          </a:solidFill>
                          <a:latin typeface="Apple SD Gothic Neo"/>
                          <a:ea typeface="Apple SD Gothic Neo"/>
                          <a:cs typeface="Apple SD Gothic Neo"/>
                        </a:rPr>
                        <a:t>현장 키오스크</a:t>
                      </a:r>
                    </a:p>
                  </a:txBody>
                  <a:tcPr marL="91440" marR="91440" marT="45720" marB="45720" anchor="ctr">
                    <a:solidFill>
                      <a:srgbClr val="F7F5F0"/>
                    </a:solidFill>
                  </a:tcPr>
                </a:tc>
                <a:tc>
                  <a:txBody>
                    <a:bodyPr lIns="190500" tIns="133350" rIns="171450" bIns="133350">
                      <a:noAutofit/>
                    </a:bodyPr>
                    <a:lstStyle/>
                    <a:p>
                      <a:r>
                        <a:rPr sz="2175" b="0">
                          <a:solidFill>
                            <a:srgbClr val="192638"/>
                          </a:solidFill>
                          <a:latin typeface="Apple SD Gothic Neo"/>
                          <a:ea typeface="Apple SD Gothic Neo"/>
                          <a:cs typeface="Apple SD Gothic Neo"/>
                        </a:rPr>
                        <a:t>Android 네이티브</a:t>
                      </a:r>
                    </a:p>
                  </a:txBody>
                  <a:tcPr marL="91440" marR="91440" marT="45720" marB="45720" anchor="ctr">
                    <a:solidFill>
                      <a:srgbClr val="F7F5F0"/>
                    </a:solidFill>
                  </a:tcPr>
                </a:tc>
                <a:tc>
                  <a:txBody>
                    <a:bodyPr lIns="190500" tIns="133350" rIns="171450" bIns="133350">
                      <a:noAutofit/>
                    </a:bodyPr>
                    <a:lstStyle/>
                    <a:p>
                      <a:r>
                        <a:rPr sz="2175" b="0">
                          <a:solidFill>
                            <a:srgbClr val="192638"/>
                          </a:solidFill>
                          <a:latin typeface="Apple SD Gothic Neo"/>
                          <a:ea typeface="Apple SD Gothic Neo"/>
                          <a:cs typeface="Apple SD Gothic Neo"/>
                        </a:rPr>
                        <a:t>Android만 필요</a:t>
                      </a:r>
                    </a:p>
                    <a:p>
                      <a:r>
                        <a:rPr sz="2175" b="0">
                          <a:solidFill>
                            <a:srgbClr val="192638"/>
                          </a:solidFill>
                          <a:latin typeface="Apple SD Gothic Neo"/>
                          <a:ea typeface="Apple SD Gothic Neo"/>
                          <a:cs typeface="Apple SD Gothic Neo"/>
                        </a:rPr>
                        <a:t>장치 성능과 하드웨어 연동</a:t>
                      </a:r>
                    </a:p>
                  </a:txBody>
                  <a:tcPr marL="91440" marR="91440" marT="45720" marB="45720" anchor="ctr">
                    <a:solidFill>
                      <a:srgbClr val="F7F5F0"/>
                    </a:solidFill>
                  </a:tcPr>
                </a:tc>
              </a:tr>
              <a:tr h="1009650">
                <a:tc>
                  <a:txBody>
                    <a:bodyPr lIns="190500" tIns="133350" rIns="171450" bIns="133350">
                      <a:noAutofit/>
                    </a:bodyPr>
                    <a:lstStyle/>
                    <a:p>
                      <a:r>
                        <a:rPr sz="2175" b="0">
                          <a:solidFill>
                            <a:srgbClr val="192638"/>
                          </a:solidFill>
                          <a:latin typeface="Apple SD Gothic Neo"/>
                          <a:ea typeface="Apple SD Gothic Neo"/>
                          <a:cs typeface="Apple SD Gothic Neo"/>
                        </a:rPr>
                        <a:t>사용자 앱</a:t>
                      </a:r>
                    </a:p>
                  </a:txBody>
                  <a:tcPr marL="91440" marR="91440" marT="45720" marB="45720" anchor="ctr">
                    <a:solidFill>
                      <a:srgbClr val="F7F5F0"/>
                    </a:solidFill>
                  </a:tcPr>
                </a:tc>
                <a:tc>
                  <a:txBody>
                    <a:bodyPr lIns="190500" tIns="133350" rIns="171450" bIns="133350">
                      <a:noAutofit/>
                    </a:bodyPr>
                    <a:lstStyle/>
                    <a:p>
                      <a:r>
                        <a:rPr sz="2175" b="0">
                          <a:solidFill>
                            <a:srgbClr val="192638"/>
                          </a:solidFill>
                          <a:latin typeface="Apple SD Gothic Neo"/>
                          <a:ea typeface="Apple SD Gothic Neo"/>
                          <a:cs typeface="Apple SD Gothic Neo"/>
                        </a:rPr>
                        <a:t>Flutter</a:t>
                      </a:r>
                    </a:p>
                  </a:txBody>
                  <a:tcPr marL="91440" marR="91440" marT="45720" marB="45720" anchor="ctr">
                    <a:solidFill>
                      <a:srgbClr val="F7F5F0"/>
                    </a:solidFill>
                  </a:tcPr>
                </a:tc>
                <a:tc>
                  <a:txBody>
                    <a:bodyPr lIns="190500" tIns="133350" rIns="171450" bIns="133350">
                      <a:noAutofit/>
                    </a:bodyPr>
                    <a:lstStyle/>
                    <a:p>
                      <a:r>
                        <a:rPr sz="2175" b="0">
                          <a:solidFill>
                            <a:srgbClr val="192638"/>
                          </a:solidFill>
                          <a:latin typeface="Apple SD Gothic Neo"/>
                          <a:ea typeface="Apple SD Gothic Neo"/>
                          <a:cs typeface="Apple SD Gothic Neo"/>
                        </a:rPr>
                        <a:t>두 OS의 일관된 동작</a:t>
                      </a:r>
                    </a:p>
                    <a:p>
                      <a:r>
                        <a:rPr sz="2175" b="0">
                          <a:solidFill>
                            <a:srgbClr val="192638"/>
                          </a:solidFill>
                          <a:latin typeface="Apple SD Gothic Neo"/>
                          <a:ea typeface="Apple SD Gothic Neo"/>
                          <a:cs typeface="Apple SD Gothic Neo"/>
                        </a:rPr>
                        <a:t>내 RN 사용 경험</a:t>
                      </a:r>
                    </a:p>
                  </a:txBody>
                  <a:tcPr marL="91440" marR="91440" marT="45720" marB="45720" anchor="ctr">
                    <a:solidFill>
                      <a:srgbClr val="F7F5F0"/>
                    </a:solidFill>
                  </a:tcPr>
                </a:tc>
              </a:tr>
              <a:tr h="1066800">
                <a:tc>
                  <a:txBody>
                    <a:bodyPr lIns="190500" tIns="133350" rIns="171450" bIns="133350">
                      <a:noAutofit/>
                    </a:bodyPr>
                    <a:lstStyle/>
                    <a:p>
                      <a:r>
                        <a:rPr sz="2175" b="0">
                          <a:solidFill>
                            <a:srgbClr val="192638"/>
                          </a:solidFill>
                          <a:latin typeface="Apple SD Gothic Neo"/>
                          <a:ea typeface="Apple SD Gothic Neo"/>
                          <a:cs typeface="Apple SD Gothic Neo"/>
                        </a:rPr>
                        <a:t>백엔드</a:t>
                      </a:r>
                    </a:p>
                  </a:txBody>
                  <a:tcPr marL="91440" marR="91440" marT="45720" marB="45720" anchor="ctr">
                    <a:solidFill>
                      <a:srgbClr val="F7F5F0"/>
                    </a:solidFill>
                  </a:tcPr>
                </a:tc>
                <a:tc>
                  <a:txBody>
                    <a:bodyPr lIns="190500" tIns="133350" rIns="171450" bIns="133350">
                      <a:noAutofit/>
                    </a:bodyPr>
                    <a:lstStyle/>
                    <a:p>
                      <a:r>
                        <a:rPr sz="2175" b="0">
                          <a:solidFill>
                            <a:srgbClr val="192638"/>
                          </a:solidFill>
                          <a:latin typeface="Apple SD Gothic Neo"/>
                          <a:ea typeface="Apple SD Gothic Neo"/>
                          <a:cs typeface="Apple SD Gothic Neo"/>
                        </a:rPr>
                        <a:t>Next.js + MongoDB</a:t>
                      </a:r>
                    </a:p>
                  </a:txBody>
                  <a:tcPr marL="91440" marR="91440" marT="45720" marB="45720" anchor="ctr">
                    <a:solidFill>
                      <a:srgbClr val="F7F5F0"/>
                    </a:solidFill>
                  </a:tcPr>
                </a:tc>
                <a:tc>
                  <a:txBody>
                    <a:bodyPr lIns="190500" tIns="133350" rIns="171450" bIns="133350">
                      <a:noAutofit/>
                    </a:bodyPr>
                    <a:lstStyle/>
                    <a:p>
                      <a:r>
                        <a:rPr sz="2175" b="0">
                          <a:solidFill>
                            <a:srgbClr val="192638"/>
                          </a:solidFill>
                          <a:latin typeface="Apple SD Gothic Neo"/>
                          <a:ea typeface="Apple SD Gothic Neo"/>
                          <a:cs typeface="Apple SD Gothic Neo"/>
                        </a:rPr>
                        <a:t>구성 단순화와 운영 비용</a:t>
                      </a:r>
                    </a:p>
                    <a:p>
                      <a:r>
                        <a:rPr sz="2175" b="0">
                          <a:solidFill>
                            <a:srgbClr val="192638"/>
                          </a:solidFill>
                          <a:latin typeface="Apple SD Gothic Neo"/>
                          <a:ea typeface="Apple SD Gothic Neo"/>
                          <a:cs typeface="Apple SD Gothic Neo"/>
                        </a:rPr>
                        <a:t>AI로 달라진 구현 부담</a:t>
                      </a:r>
                    </a:p>
                  </a:txBody>
                  <a:tcPr marL="91440" marR="91440" marT="45720" marB="45720" anchor="ctr">
                    <a:solidFill>
                      <a:srgbClr val="F7F5F0"/>
                    </a:solidFill>
                  </a:tcPr>
                </a:tc>
              </a:tr>
            </a:tbl>
          </a:graphicData>
        </a:graphic>
      </p:graphicFrame>
      <p:sp>
        <p:nvSpPr>
          <p:cNvPr id="4" name="">
            <a:extLst xmlns:a="http://schemas.openxmlformats.org/drawingml/2006/main">
              <a:ext uri="{FF2B5EF4-FFF2-40B4-BE49-F238E27FC236}">
                <a16:creationId xmlns:a16="http://schemas.microsoft.com/office/drawing/2014/main" id="{D2E33EC6-1767-4068-A06E-6D77E9864E34}"/>
              </a:ext>
            </a:extLst>
          </p:cNvPr>
          <p:cNvSpPr>
            <a:spLocks xmlns:a="http://schemas.openxmlformats.org/drawingml/2006/main" noGrp="1"/>
          </p:cNvSpPr>
          <p:nvPr/>
        </p:nvSpPr>
        <p:spPr>
          <a:xfrm xmlns:a="http://schemas.openxmlformats.org/drawingml/2006/main">
            <a:off x="723900" y="60102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171"/>
                </a:solidFill>
                <a:latin typeface="Apple SD Gothic Neo"/>
                <a:ea typeface="Apple SD Gothic Neo"/>
                <a:cs typeface="Apple SD Gothic Neo"/>
              </a:defRPr>
            </a:pPr>
            <a:r>
              <a:rPr sz="1725" b="0">
                <a:solidFill>
                  <a:srgbClr val="536171"/>
                </a:solidFill>
                <a:latin typeface="Apple SD Gothic Neo"/>
                <a:ea typeface="Apple SD Gothic Neo"/>
                <a:cs typeface="Apple SD Gothic Neo"/>
              </a:rPr>
              <a:t>이 프로젝트와 당시 경험에 근거한 판단. 일반적인 기술 우열 비교가 아님.</a:t>
            </a:r>
          </a:p>
        </p:txBody>
      </p:sp>
    </p:spTree>
    <p:extLst>
      <p:ext uri="{BB962C8B-B14F-4D97-AF65-F5344CB8AC3E}">
        <p14:creationId xmlns:p14="http://schemas.microsoft.com/office/powerpoint/2010/main" val="166535023"/>
      </p:ext>
    </p:extLst>
  </p:cSld>
</p:sld>
</file>

<file path=ppt/slides/slide2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B6730CE-1698-4A85-9B78-9E38688CE7E7}"/>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참고. 단독 개발 때 다룬 애플리케이션</a:t>
            </a:r>
          </a:p>
        </p:txBody>
      </p:sp>
      <p:sp>
        <p:nvSpPr>
          <p:cNvPr id="2" name="">
            <a:extLst xmlns:a="http://schemas.openxmlformats.org/drawingml/2006/main">
              <a:ext uri="{FF2B5EF4-FFF2-40B4-BE49-F238E27FC236}">
                <a16:creationId xmlns:a16="http://schemas.microsoft.com/office/drawing/2014/main" id="{3D8F2710-29FF-4836-8D56-C9DFDC7B8F16}"/>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24</a:t>
            </a:r>
          </a:p>
        </p:txBody>
      </p:sp>
      <p:graphicFrame>
        <p:nvGraphicFramePr>
          <p:cNvPr id="7" name=""/>
          <p:cNvGraphicFramePr/>
          <p:nvPr/>
        </p:nvGraphicFramePr>
        <p:xfrm>
          <a:off xmlns:a="http://schemas.openxmlformats.org/drawingml/2006/main" x="723900" y="1914525"/>
          <a:ext xmlns:a="http://schemas.openxmlformats.org/drawingml/2006/main" cx="10744200" cy="3905250"/>
        </p:xfrm>
        <a:graphic xmlns:a="http://schemas.openxmlformats.org/drawingml/2006/main">
          <a:graphicData uri="http://schemas.openxmlformats.org/drawingml/2006/table">
            <a:tbl>
              <a:tblPr firstRow="0" bandRow="0"/>
              <a:tblGrid>
                <a:gridCol w="2695575"/>
                <a:gridCol w="8048625"/>
              </a:tblGrid>
              <a:tr h="552450">
                <a:tc>
                  <a:txBody>
                    <a:bodyPr lIns="190500" tIns="133350" rIns="171450" bIns="133350">
                      <a:noAutofit/>
                    </a:bodyPr>
                    <a:lstStyle/>
                    <a:p>
                      <a:r>
                        <a:rPr sz="2100" b="1">
                          <a:solidFill>
                            <a:srgbClr val="FFFFFF"/>
                          </a:solidFill>
                          <a:latin typeface="Apple SD Gothic Neo"/>
                          <a:ea typeface="Apple SD Gothic Neo"/>
                          <a:cs typeface="Apple SD Gothic Neo"/>
                        </a:rPr>
                        <a:t>용도</a:t>
                      </a:r>
                    </a:p>
                  </a:txBody>
                  <a:tcPr marL="91440" marR="91440" marT="45720" marB="45720" anchor="ctr">
                    <a:solidFill>
                      <a:srgbClr val="142333"/>
                    </a:solidFill>
                  </a:tcPr>
                </a:tc>
                <a:tc>
                  <a:txBody>
                    <a:bodyPr lIns="190500" tIns="133350" rIns="171450" bIns="133350">
                      <a:noAutofit/>
                    </a:bodyPr>
                    <a:lstStyle/>
                    <a:p>
                      <a:r>
                        <a:rPr sz="2100" b="1">
                          <a:solidFill>
                            <a:srgbClr val="FFFFFF"/>
                          </a:solidFill>
                          <a:latin typeface="Apple SD Gothic Neo"/>
                          <a:ea typeface="Apple SD Gothic Neo"/>
                          <a:cs typeface="Apple SD Gothic Neo"/>
                        </a:rPr>
                        <a:t>애플리케이션</a:t>
                      </a:r>
                    </a:p>
                  </a:txBody>
                  <a:tcPr marL="91440" marR="91440" marT="45720" marB="45720" anchor="ctr">
                    <a:solidFill>
                      <a:srgbClr val="142333"/>
                    </a:solidFill>
                  </a:tcPr>
                </a:tc>
              </a:tr>
              <a:tr h="752475">
                <a:tc>
                  <a:txBody>
                    <a:bodyPr lIns="190500" tIns="133350" rIns="171450" bIns="133350">
                      <a:noAutofit/>
                    </a:bodyPr>
                    <a:lstStyle/>
                    <a:p>
                      <a:r>
                        <a:rPr sz="2175" b="0">
                          <a:solidFill>
                            <a:srgbClr val="192638"/>
                          </a:solidFill>
                          <a:latin typeface="Apple SD Gothic Neo"/>
                          <a:ea typeface="Apple SD Gothic Neo"/>
                          <a:cs typeface="Apple SD Gothic Neo"/>
                        </a:rPr>
                        <a:t>새 시스템 개발</a:t>
                      </a:r>
                    </a:p>
                  </a:txBody>
                  <a:tcPr marL="91440" marR="91440" marT="45720" marB="45720" anchor="ctr">
                    <a:solidFill>
                      <a:srgbClr val="F7F5F0"/>
                    </a:solidFill>
                  </a:tcPr>
                </a:tc>
                <a:tc>
                  <a:txBody>
                    <a:bodyPr lIns="190500" tIns="133350" rIns="171450" bIns="133350">
                      <a:noAutofit/>
                    </a:bodyPr>
                    <a:lstStyle/>
                    <a:p>
                      <a:r>
                        <a:rPr sz="2175" b="0">
                          <a:solidFill>
                            <a:srgbClr val="192638"/>
                          </a:solidFill>
                          <a:latin typeface="Apple SD Gothic Neo"/>
                          <a:ea typeface="Apple SD Gothic Neo"/>
                          <a:cs typeface="Apple SD Gothic Neo"/>
                        </a:rPr>
                        <a:t>새 백엔드(marksman), 사용자 앱(pointman)</a:t>
                      </a:r>
                    </a:p>
                  </a:txBody>
                  <a:tcPr marL="91440" marR="91440" marT="45720" marB="45720" anchor="ctr">
                    <a:solidFill>
                      <a:srgbClr val="F7F5F0"/>
                    </a:solidFill>
                  </a:tcPr>
                </a:tc>
              </a:tr>
              <a:tr h="752475">
                <a:tc>
                  <a:txBody>
                    <a:bodyPr lIns="190500" tIns="133350" rIns="171450" bIns="133350">
                      <a:noAutofit/>
                    </a:bodyPr>
                    <a:lstStyle/>
                    <a:p>
                      <a:r>
                        <a:rPr sz="2175" b="0">
                          <a:solidFill>
                            <a:srgbClr val="192638"/>
                          </a:solidFill>
                          <a:latin typeface="Apple SD Gothic Neo"/>
                          <a:ea typeface="Apple SD Gothic Neo"/>
                          <a:cs typeface="Apple SD Gothic Neo"/>
                        </a:rPr>
                        <a:t>행사 대응</a:t>
                      </a:r>
                    </a:p>
                  </a:txBody>
                  <a:tcPr marL="91440" marR="91440" marT="45720" marB="45720" anchor="ctr">
                    <a:solidFill>
                      <a:srgbClr val="F7F5F0"/>
                    </a:solidFill>
                  </a:tcPr>
                </a:tc>
                <a:tc>
                  <a:txBody>
                    <a:bodyPr lIns="190500" tIns="133350" rIns="171450" bIns="133350">
                      <a:noAutofit/>
                    </a:bodyPr>
                    <a:lstStyle/>
                    <a:p>
                      <a:r>
                        <a:rPr sz="2175" b="0">
                          <a:solidFill>
                            <a:srgbClr val="192638"/>
                          </a:solidFill>
                          <a:latin typeface="Apple SD Gothic Neo"/>
                          <a:ea typeface="Apple SD Gothic Neo"/>
                          <a:cs typeface="Apple SD Gothic Neo"/>
                        </a:rPr>
                        <a:t>이벤트용 백오피스·티켓 시스템(events)</a:t>
                      </a:r>
                    </a:p>
                  </a:txBody>
                  <a:tcPr marL="91440" marR="91440" marT="45720" marB="45720" anchor="ctr">
                    <a:solidFill>
                      <a:srgbClr val="F7F5F0"/>
                    </a:solidFill>
                  </a:tcPr>
                </a:tc>
              </a:tr>
              <a:tr h="752475">
                <a:tc>
                  <a:txBody>
                    <a:bodyPr lIns="190500" tIns="133350" rIns="171450" bIns="133350">
                      <a:noAutofit/>
                    </a:bodyPr>
                    <a:lstStyle/>
                    <a:p>
                      <a:r>
                        <a:rPr sz="2175" b="0">
                          <a:solidFill>
                            <a:srgbClr val="192638"/>
                          </a:solidFill>
                          <a:latin typeface="Apple SD Gothic Neo"/>
                          <a:ea typeface="Apple SD Gothic Neo"/>
                          <a:cs typeface="Apple SD Gothic Neo"/>
                        </a:rPr>
                        <a:t>기존 서비스 유지</a:t>
                      </a:r>
                    </a:p>
                  </a:txBody>
                  <a:tcPr marL="91440" marR="91440" marT="45720" marB="45720" anchor="ctr">
                    <a:solidFill>
                      <a:srgbClr val="F7F5F0"/>
                    </a:solidFill>
                  </a:tcPr>
                </a:tc>
                <a:tc>
                  <a:txBody>
                    <a:bodyPr lIns="190500" tIns="133350" rIns="171450" bIns="133350">
                      <a:noAutofit/>
                    </a:bodyPr>
                    <a:lstStyle/>
                    <a:p>
                      <a:r>
                        <a:rPr sz="2175" b="0">
                          <a:solidFill>
                            <a:srgbClr val="192638"/>
                          </a:solidFill>
                          <a:latin typeface="Apple SD Gothic Neo"/>
                          <a:ea typeface="Apple SD Gothic Neo"/>
                          <a:cs typeface="Apple SD Gothic Neo"/>
                        </a:rPr>
                        <a:t>백엔드(legacy), 백오피스(partner-console)</a:t>
                      </a:r>
                    </a:p>
                  </a:txBody>
                  <a:tcPr marL="91440" marR="91440" marT="45720" marB="45720" anchor="ctr">
                    <a:solidFill>
                      <a:srgbClr val="F7F5F0"/>
                    </a:solidFill>
                  </a:tcPr>
                </a:tc>
              </a:tr>
              <a:tr h="1095375">
                <a:tc>
                  <a:txBody>
                    <a:bodyPr lIns="190500" tIns="133350" rIns="171450" bIns="133350">
                      <a:noAutofit/>
                    </a:bodyPr>
                    <a:lstStyle/>
                    <a:p>
                      <a:r>
                        <a:rPr sz="2175" b="0">
                          <a:solidFill>
                            <a:srgbClr val="192638"/>
                          </a:solidFill>
                          <a:latin typeface="Apple SD Gothic Neo"/>
                          <a:ea typeface="Apple SD Gothic Neo"/>
                          <a:cs typeface="Apple SD Gothic Neo"/>
                        </a:rPr>
                        <a:t>현장 단말과 서버</a:t>
                      </a:r>
                    </a:p>
                  </a:txBody>
                  <a:tcPr marL="91440" marR="91440" marT="45720" marB="45720" anchor="ctr">
                    <a:solidFill>
                      <a:srgbClr val="F7F5F0"/>
                    </a:solidFill>
                  </a:tcPr>
                </a:tc>
                <a:tc>
                  <a:txBody>
                    <a:bodyPr lIns="190500" tIns="133350" rIns="171450" bIns="133350">
                      <a:noAutofit/>
                    </a:bodyPr>
                    <a:lstStyle/>
                    <a:p>
                      <a:r>
                        <a:rPr sz="2175" b="0">
                          <a:solidFill>
                            <a:srgbClr val="192638"/>
                          </a:solidFill>
                          <a:latin typeface="Apple SD Gothic Neo"/>
                          <a:ea typeface="Apple SD Gothic Neo"/>
                          <a:cs typeface="Apple SD Gothic Neo"/>
                        </a:rPr>
                        <a:t>발권 키오스크(ticketing), JSP 서버(kiosk-server)</a:t>
                      </a:r>
                    </a:p>
                    <a:p>
                      <a:r>
                        <a:rPr sz="2175" b="0">
                          <a:solidFill>
                            <a:srgbClr val="192638"/>
                          </a:solidFill>
                          <a:latin typeface="Apple SD Gothic Neo"/>
                          <a:ea typeface="Apple SD Gothic Neo"/>
                          <a:cs typeface="Apple SD Gothic Neo"/>
                        </a:rPr>
                        <a:t>Android POS(pos-app), iOS 입장 키오스크(checkin)</a:t>
                      </a:r>
                    </a:p>
                  </a:txBody>
                  <a:tcPr marL="91440" marR="91440" marT="45720" marB="45720" anchor="ctr">
                    <a:solidFill>
                      <a:srgbClr val="F7F5F0"/>
                    </a:solidFill>
                  </a:tcPr>
                </a:tc>
              </a:tr>
            </a:tbl>
          </a:graphicData>
        </a:graphic>
      </p:graphicFrame>
      <p:sp>
        <p:nvSpPr>
          <p:cNvPr id="4" name="">
            <a:extLst xmlns:a="http://schemas.openxmlformats.org/drawingml/2006/main">
              <a:ext uri="{FF2B5EF4-FFF2-40B4-BE49-F238E27FC236}">
                <a16:creationId xmlns:a16="http://schemas.microsoft.com/office/drawing/2014/main" id="{DCE13DF0-FFAE-408D-8823-50AF2E41751C}"/>
              </a:ext>
            </a:extLst>
          </p:cNvPr>
          <p:cNvSpPr>
            <a:spLocks xmlns:a="http://schemas.openxmlformats.org/drawingml/2006/main" noGrp="1"/>
          </p:cNvSpPr>
          <p:nvPr/>
        </p:nvSpPr>
        <p:spPr>
          <a:xfrm xmlns:a="http://schemas.openxmlformats.org/drawingml/2006/main">
            <a:off x="723900" y="60102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171"/>
                </a:solidFill>
                <a:latin typeface="Apple SD Gothic Neo"/>
                <a:ea typeface="Apple SD Gothic Neo"/>
                <a:cs typeface="Apple SD Gothic Neo"/>
              </a:defRPr>
            </a:pPr>
            <a:r>
              <a:rPr sz="1725" b="0">
                <a:solidFill>
                  <a:srgbClr val="536171"/>
                </a:solidFill>
                <a:latin typeface="Apple SD Gothic Neo"/>
                <a:ea typeface="Apple SD Gothic Neo"/>
                <a:cs typeface="Apple SD Gothic Neo"/>
              </a:rPr>
              <a:t>9개 애플리케이션을 관리했고, 서로 다른 4개 프로젝트에 병렬로 일을 맡겼다.</a:t>
            </a:r>
          </a:p>
        </p:txBody>
      </p:sp>
    </p:spTree>
    <p:extLst>
      <p:ext uri="{BB962C8B-B14F-4D97-AF65-F5344CB8AC3E}">
        <p14:creationId xmlns:p14="http://schemas.microsoft.com/office/powerpoint/2010/main" val="2063325758"/>
      </p:ext>
    </p:extLst>
  </p:cSld>
</p:sld>
</file>

<file path=ppt/slides/slide2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1B1DC5-0C41-4FEA-8B11-F76B5F9CB7AC}"/>
              </a:ext>
            </a:extLst>
          </p:cNvPr>
          <p:cNvSpPr>
            <a:spLocks xmlns:a="http://schemas.openxmlformats.org/drawingml/2006/main" noGrp="1"/>
          </p:cNvSpPr>
          <p:nvPr/>
        </p:nvSpPr>
        <p:spPr>
          <a:xfrm xmlns:a="http://schemas.openxmlformats.org/drawingml/2006/main">
            <a:off x="723900" y="542925"/>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2638"/>
                </a:solidFill>
                <a:latin typeface="Apple SD Gothic Neo"/>
                <a:ea typeface="Apple SD Gothic Neo"/>
                <a:cs typeface="Apple SD Gothic Neo"/>
              </a:defRPr>
            </a:pPr>
            <a:r>
              <a:rPr sz="3300" b="1">
                <a:solidFill>
                  <a:srgbClr val="192638"/>
                </a:solidFill>
                <a:latin typeface="Apple SD Gothic Neo"/>
                <a:ea typeface="Apple SD Gothic Neo"/>
                <a:cs typeface="Apple SD Gothic Neo"/>
              </a:rPr>
              <a:t>참고 자료</a:t>
            </a:r>
          </a:p>
        </p:txBody>
      </p:sp>
      <p:sp>
        <p:nvSpPr>
          <p:cNvPr id="2" name="">
            <a:extLst xmlns:a="http://schemas.openxmlformats.org/drawingml/2006/main">
              <a:ext uri="{FF2B5EF4-FFF2-40B4-BE49-F238E27FC236}">
                <a16:creationId xmlns:a16="http://schemas.microsoft.com/office/drawing/2014/main" id="{89664628-A6CF-41EA-907D-5168531FE613}"/>
              </a:ext>
            </a:extLst>
          </p:cNvPr>
          <p:cNvSpPr>
            <a:spLocks xmlns:a="http://schemas.openxmlformats.org/drawingml/2006/main" noGrp="1"/>
          </p:cNvSpPr>
          <p:nvPr/>
        </p:nvSpPr>
        <p:spPr>
          <a:xfrm xmlns:a="http://schemas.openxmlformats.org/drawingml/2006/main">
            <a:off x="1133475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536171"/>
                </a:solidFill>
                <a:latin typeface="Apple SD Gothic Neo"/>
                <a:ea typeface="Apple SD Gothic Neo"/>
                <a:cs typeface="Apple SD Gothic Neo"/>
              </a:defRPr>
            </a:pPr>
            <a:r>
              <a:rPr sz="1425" b="0">
                <a:solidFill>
                  <a:srgbClr val="536171"/>
                </a:solidFill>
                <a:latin typeface="Apple SD Gothic Neo"/>
                <a:ea typeface="Apple SD Gothic Neo"/>
                <a:cs typeface="Apple SD Gothic Neo"/>
              </a:rPr>
              <a:t>25</a:t>
            </a:r>
          </a:p>
        </p:txBody>
      </p:sp>
      <p:sp>
        <p:nvSpPr>
          <p:cNvPr id="3" name="">
            <a:extLst xmlns:a="http://schemas.openxmlformats.org/drawingml/2006/main">
              <a:ext uri="{FF2B5EF4-FFF2-40B4-BE49-F238E27FC236}">
                <a16:creationId xmlns:a16="http://schemas.microsoft.com/office/drawing/2014/main" id="{B5217646-234D-4BC0-8E47-44FF533C751C}"/>
              </a:ext>
            </a:extLst>
          </p:cNvPr>
          <p:cNvSpPr>
            <a:spLocks xmlns:a="http://schemas.openxmlformats.org/drawingml/2006/main" noGrp="1"/>
          </p:cNvSpPr>
          <p:nvPr/>
        </p:nvSpPr>
        <p:spPr>
          <a:xfrm xmlns:a="http://schemas.openxmlformats.org/drawingml/2006/main">
            <a:off x="723900" y="2047875"/>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C7542C"/>
                </a:solidFill>
                <a:latin typeface="Apple SD Gothic Neo"/>
                <a:ea typeface="Apple SD Gothic Neo"/>
                <a:cs typeface="Apple SD Gothic Neo"/>
              </a:defRPr>
            </a:pPr>
            <a:r>
              <a:rPr sz="2400" b="1">
                <a:solidFill>
                  <a:srgbClr val="C7542C"/>
                </a:solidFill>
                <a:latin typeface="Apple SD Gothic Neo"/>
                <a:ea typeface="Apple SD Gothic Neo"/>
                <a:cs typeface="Apple SD Gothic Neo"/>
              </a:rPr>
              <a:t>발표자 원고</a:t>
            </a:r>
          </a:p>
        </p:txBody>
      </p:sp>
      <p:sp>
        <p:nvSpPr>
          <p:cNvPr id="4" name="">
            <a:extLst xmlns:a="http://schemas.openxmlformats.org/drawingml/2006/main">
              <a:ext uri="{FF2B5EF4-FFF2-40B4-BE49-F238E27FC236}">
                <a16:creationId xmlns:a16="http://schemas.microsoft.com/office/drawing/2014/main" id="{FEBDE9D2-3AEE-4A9A-8017-4D887A5BEFA6}"/>
              </a:ext>
            </a:extLst>
          </p:cNvPr>
          <p:cNvSpPr>
            <a:spLocks xmlns:a="http://schemas.openxmlformats.org/drawingml/2006/main" noGrp="1"/>
          </p:cNvSpPr>
          <p:nvPr/>
        </p:nvSpPr>
        <p:spPr>
          <a:xfrm xmlns:a="http://schemas.openxmlformats.org/drawingml/2006/main">
            <a:off x="762000" y="26098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92638"/>
                </a:solidFill>
                <a:latin typeface="Apple SD Gothic Neo"/>
                <a:ea typeface="Apple SD Gothic Neo"/>
                <a:cs typeface="Apple SD Gothic Neo"/>
              </a:defRPr>
            </a:pPr>
            <a:r>
              <a:rPr sz="2700" b="0">
                <a:solidFill>
                  <a:srgbClr val="192638"/>
                </a:solidFill>
                <a:latin typeface="Apple SD Gothic Neo"/>
                <a:ea typeface="Apple SD Gothic Neo"/>
                <a:cs typeface="Apple SD Gothic Neo"/>
                <a:hlinkClick xmlns:r="http://schemas.openxmlformats.org/officeDocument/2006/relationships" r:id="R8c7febfb65064f52"/>
              </a:rPr>
              <a:t>AI 코딩 이해하기: AI가 바꾼 개발 환경</a:t>
            </a:r>
          </a:p>
        </p:txBody>
      </p:sp>
      <p:sp>
        <p:nvSpPr>
          <p:cNvPr id="5" name="">
            <a:extLst xmlns:a="http://schemas.openxmlformats.org/drawingml/2006/main">
              <a:ext uri="{FF2B5EF4-FFF2-40B4-BE49-F238E27FC236}">
                <a16:creationId xmlns:a16="http://schemas.microsoft.com/office/drawing/2014/main" id="{9FFC6AA2-634F-460F-B3E1-D5BD0C3BDE70}"/>
              </a:ext>
            </a:extLst>
          </p:cNvPr>
          <p:cNvSpPr>
            <a:spLocks xmlns:a="http://schemas.openxmlformats.org/drawingml/2006/main" noGrp="1"/>
          </p:cNvSpPr>
          <p:nvPr/>
        </p:nvSpPr>
        <p:spPr>
          <a:xfrm xmlns:a="http://schemas.openxmlformats.org/drawingml/2006/main">
            <a:off x="723900" y="3495675"/>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C7542C"/>
                </a:solidFill>
                <a:latin typeface="Apple SD Gothic Neo"/>
                <a:ea typeface="Apple SD Gothic Neo"/>
                <a:cs typeface="Apple SD Gothic Neo"/>
              </a:defRPr>
            </a:pPr>
            <a:r>
              <a:rPr sz="2400" b="1">
                <a:solidFill>
                  <a:srgbClr val="C7542C"/>
                </a:solidFill>
                <a:latin typeface="Apple SD Gothic Neo"/>
                <a:ea typeface="Apple SD Gothic Neo"/>
                <a:cs typeface="Apple SD Gothic Neo"/>
              </a:rPr>
              <a:t>외부 사례</a:t>
            </a:r>
          </a:p>
        </p:txBody>
      </p:sp>
      <p:sp>
        <p:nvSpPr>
          <p:cNvPr id="6" name="">
            <a:extLst xmlns:a="http://schemas.openxmlformats.org/drawingml/2006/main">
              <a:ext uri="{FF2B5EF4-FFF2-40B4-BE49-F238E27FC236}">
                <a16:creationId xmlns:a16="http://schemas.microsoft.com/office/drawing/2014/main" id="{CAD001D7-BEC8-4481-9DFE-62895FF7180F}"/>
              </a:ext>
            </a:extLst>
          </p:cNvPr>
          <p:cNvSpPr>
            <a:spLocks xmlns:a="http://schemas.openxmlformats.org/drawingml/2006/main" noGrp="1"/>
          </p:cNvSpPr>
          <p:nvPr/>
        </p:nvSpPr>
        <p:spPr>
          <a:xfrm xmlns:a="http://schemas.openxmlformats.org/drawingml/2006/main">
            <a:off x="762000" y="4038600"/>
            <a:ext cx="10620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92638"/>
                </a:solidFill>
                <a:latin typeface="Apple SD Gothic Neo"/>
                <a:ea typeface="Apple SD Gothic Neo"/>
                <a:cs typeface="Apple SD Gothic Neo"/>
              </a:defRPr>
            </a:pPr>
            <a:r>
              <a:rPr sz="2250" b="0">
                <a:solidFill>
                  <a:srgbClr val="192638"/>
                </a:solidFill>
                <a:latin typeface="Apple SD Gothic Neo"/>
                <a:ea typeface="Apple SD Gothic Neo"/>
                <a:cs typeface="Apple SD Gothic Neo"/>
                <a:hlinkClick xmlns:r="http://schemas.openxmlformats.org/officeDocument/2006/relationships" r:id="Raef9ab77d5664a86"/>
              </a:rPr>
              <a:t>동아일보 딥다이브 · 20년 반도체맨이 말하는 삼성전자 위기론</a:t>
            </a:r>
          </a:p>
        </p:txBody>
      </p:sp>
      <p:sp>
        <p:nvSpPr>
          <p:cNvPr id="7" name="">
            <a:extLst xmlns:a="http://schemas.openxmlformats.org/drawingml/2006/main">
              <a:ext uri="{FF2B5EF4-FFF2-40B4-BE49-F238E27FC236}">
                <a16:creationId xmlns:a16="http://schemas.microsoft.com/office/drawing/2014/main" id="{36C310EF-371A-4C78-97DB-EBD2992FD382}"/>
              </a:ext>
            </a:extLst>
          </p:cNvPr>
          <p:cNvSpPr>
            <a:spLocks xmlns:a="http://schemas.openxmlformats.org/drawingml/2006/main" noGrp="1"/>
          </p:cNvSpPr>
          <p:nvPr/>
        </p:nvSpPr>
        <p:spPr>
          <a:xfrm xmlns:a="http://schemas.openxmlformats.org/drawingml/2006/main">
            <a:off x="762000" y="4962525"/>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6171"/>
                </a:solidFill>
                <a:latin typeface="Apple SD Gothic Neo"/>
                <a:ea typeface="Apple SD Gothic Neo"/>
                <a:cs typeface="Apple SD Gothic Neo"/>
              </a:defRPr>
            </a:pPr>
            <a:r>
              <a:rPr sz="2025" b="0">
                <a:solidFill>
                  <a:srgbClr val="536171"/>
                </a:solidFill>
                <a:latin typeface="Apple SD Gothic Neo"/>
                <a:ea typeface="Apple SD Gothic Neo"/>
                <a:cs typeface="Apple SD Gothic Neo"/>
              </a:rPr>
              <a:t>2024년 10월 18일. 익명 엔지니어 인터뷰.</a:t>
            </a:r>
          </a:p>
        </p:txBody>
      </p:sp>
      <p:sp>
        <p:nvSpPr>
          <p:cNvPr id="8" name="">
            <a:extLst xmlns:a="http://schemas.openxmlformats.org/drawingml/2006/main">
              <a:ext uri="{FF2B5EF4-FFF2-40B4-BE49-F238E27FC236}">
                <a16:creationId xmlns:a16="http://schemas.microsoft.com/office/drawing/2014/main" id="{27C38F1D-9348-4A59-BC8D-AFB4581CEB28}"/>
              </a:ext>
            </a:extLst>
          </p:cNvPr>
          <p:cNvSpPr>
            <a:spLocks xmlns:a="http://schemas.openxmlformats.org/drawingml/2006/main" noGrp="1"/>
          </p:cNvSpPr>
          <p:nvPr/>
        </p:nvSpPr>
        <p:spPr>
          <a:xfrm xmlns:a="http://schemas.openxmlformats.org/drawingml/2006/main">
            <a:off x="723900" y="60102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171"/>
                </a:solidFill>
                <a:latin typeface="Apple SD Gothic Neo"/>
                <a:ea typeface="Apple SD Gothic Neo"/>
                <a:cs typeface="Apple SD Gothic Neo"/>
              </a:defRPr>
            </a:pPr>
            <a:r>
              <a:rPr sz="1725" b="0">
                <a:solidFill>
                  <a:srgbClr val="536171"/>
                </a:solidFill>
                <a:latin typeface="Apple SD Gothic Neo"/>
                <a:ea typeface="Apple SD Gothic Neo"/>
                <a:cs typeface="Apple SD Gothic Neo"/>
              </a:rPr>
              <a:t>집 삽화와 Figma 캡처는 저자 보유 자료. 각 슬라이드 노트에 출처 수록.</a:t>
            </a:r>
          </a:p>
        </p:txBody>
      </p:sp>
    </p:spTree>
    <p:extLst>
      <p:ext uri="{BB962C8B-B14F-4D97-AF65-F5344CB8AC3E}">
        <p14:creationId xmlns:p14="http://schemas.microsoft.com/office/powerpoint/2010/main" val="21380429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2026-09-27T08:00:39.1390000Z</dcterms:created>
  <dcterms:modified xsi:type="dcterms:W3CDTF">2026-09-27T08:00:39.1390000Z</dcterms:modified>
</coreProperties>
</file>